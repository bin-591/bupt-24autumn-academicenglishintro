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27"/>
  </p:handoutMasterIdLst>
  <p:sldIdLst>
    <p:sldId id="256" r:id="rId3"/>
    <p:sldId id="289" r:id="rId4"/>
    <p:sldId id="291" r:id="rId5"/>
    <p:sldId id="292" r:id="rId6"/>
    <p:sldId id="293" r:id="rId7"/>
    <p:sldId id="294" r:id="rId8"/>
    <p:sldId id="295" r:id="rId9"/>
    <p:sldId id="299" r:id="rId10"/>
    <p:sldId id="268" r:id="rId11"/>
    <p:sldId id="287" r:id="rId12"/>
    <p:sldId id="296" r:id="rId13"/>
    <p:sldId id="258" r:id="rId14"/>
    <p:sldId id="269" r:id="rId15"/>
    <p:sldId id="271" r:id="rId16"/>
    <p:sldId id="297" r:id="rId17"/>
    <p:sldId id="298" r:id="rId18"/>
    <p:sldId id="272" r:id="rId19"/>
    <p:sldId id="286" r:id="rId20"/>
    <p:sldId id="265" r:id="rId21"/>
    <p:sldId id="277" r:id="rId22"/>
    <p:sldId id="300" r:id="rId23"/>
    <p:sldId id="301" r:id="rId24"/>
    <p:sldId id="278" r:id="rId25"/>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3D1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8" d="100"/>
          <a:sy n="88" d="100"/>
        </p:scale>
        <p:origin x="88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gs" Target="tags/tag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a:t>美国成年人对与</a:t>
            </a:r>
            <a:r>
              <a:rPr lang="en-US" altLang="zh-CN"/>
              <a:t>Dating website</a:t>
            </a:r>
            <a:r>
              <a:rPr lang="zh-CN" altLang="en-US"/>
              <a:t>的了解</a:t>
            </a:r>
            <a:endParaRPr lang="zh-CN" altLang="en-US"/>
          </a:p>
        </c:rich>
      </c:tx>
      <c:layout/>
      <c:overlay val="0"/>
      <c:spPr>
        <a:noFill/>
        <a:ln>
          <a:noFill/>
        </a:ln>
        <a:effectLst/>
      </c:spPr>
    </c:title>
    <c:autoTitleDeleted val="0"/>
    <c:plotArea>
      <c:layout/>
      <c:pieChart>
        <c:varyColors val="1"/>
        <c:ser>
          <c:idx val="0"/>
          <c:order val="0"/>
          <c:tx>
            <c:strRef>
              <c:f>Sheet1!$B$1</c:f>
              <c:strCache>
                <c:ptCount val="1"/>
                <c:pt idx="0">
                  <c:v>销售额</c:v>
                </c:pt>
              </c:strCache>
            </c:strRef>
          </c:tx>
          <c:spPr/>
          <c:explosion val="0"/>
          <c:dPt>
            <c:idx val="0"/>
            <c:bubble3D val="0"/>
            <c:spPr>
              <a:solidFill>
                <a:schemeClr val="accent1"/>
              </a:solidFill>
              <a:ln w="152400">
                <a:solidFill>
                  <a:schemeClr val="accent1"/>
                </a:solidFill>
              </a:ln>
              <a:effectLst/>
              <a:sp3d contourW="152400"/>
            </c:spPr>
          </c:dPt>
          <c:dPt>
            <c:idx val="1"/>
            <c:bubble3D val="0"/>
            <c:spPr>
              <a:solidFill>
                <a:schemeClr val="accent1">
                  <a:lumMod val="60000"/>
                  <a:lumOff val="40000"/>
                </a:schemeClr>
              </a:solidFill>
              <a:ln w="152400">
                <a:noFill/>
                <a:miter lim="800000"/>
              </a:ln>
              <a:effectLst/>
            </c:spPr>
          </c:dPt>
          <c:dPt>
            <c:idx val="2"/>
            <c:bubble3D val="0"/>
            <c:spPr>
              <a:solidFill>
                <a:schemeClr val="accent1">
                  <a:lumMod val="40000"/>
                  <a:lumOff val="60000"/>
                </a:schemeClr>
              </a:solidFill>
              <a:ln w="19050">
                <a:noFill/>
              </a:ln>
              <a:effectLst/>
            </c:spPr>
          </c:dPt>
          <c:dPt>
            <c:idx val="3"/>
            <c:bubble3D val="0"/>
            <c:explosion val="2"/>
            <c:spPr>
              <a:solidFill>
                <a:schemeClr val="accent1">
                  <a:lumMod val="20000"/>
                  <a:lumOff val="80000"/>
                </a:schemeClr>
              </a:solidFill>
              <a:ln w="19050">
                <a:noFill/>
              </a:ln>
              <a:effectLst/>
            </c:spPr>
          </c:dPt>
          <c:dLbls>
            <c:dLbl>
              <c:idx val="0"/>
              <c:layout>
                <c:manualLayout>
                  <c:x val="0"/>
                  <c:y val="0.00192431045542014"/>
                </c:manualLayout>
              </c:layout>
              <c:tx>
                <c:rich>
                  <a:bodyPr rot="0" spcFirstLastPara="0" vertOverflow="ellipsis" vert="horz" wrap="square" lIns="38100" tIns="19050" rIns="38100" bIns="19050" anchor="ctr" anchorCtr="1" forceAA="0"/>
                  <a:lstStyle/>
                  <a:p>
                    <a:pPr defTabSz="914400">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t>知道别人用过</a:t>
                    </a:r>
                    <a:r>
                      <a:rPr lang="en-US" altLang="zh-CN" sz="1400"/>
                      <a:t>31%</a:t>
                    </a:r>
                    <a:endParaRPr lang="en-US" altLang="zh-CN" sz="1400"/>
                  </a:p>
                </c:rich>
              </c:tx>
              <c:numFmt formatCode="General" sourceLinked="1"/>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ext>
              </c:extLst>
            </c:dLbl>
            <c:dLbl>
              <c:idx val="1"/>
              <c:layout/>
              <c:tx>
                <c:rich>
                  <a:bodyPr rot="0" spcFirstLastPara="0" vertOverflow="ellipsis" vert="horz" wrap="square" lIns="38100" tIns="19050" rIns="38100" bIns="19050" anchor="ctr" anchorCtr="1"/>
                  <a:lstStyle/>
                  <a:p>
                    <a:pPr>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t>用过</a:t>
                    </a:r>
                    <a:endParaRPr lang="zh-CN" altLang="en-US" sz="1400"/>
                  </a:p>
                  <a:p>
                    <a:pPr>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400"/>
                      <a:t>11%</a:t>
                    </a:r>
                    <a:endParaRPr lang="en-US" altLang="zh-CN" sz="1400"/>
                  </a:p>
                </c:rich>
              </c:tx>
              <c:dLblPos val="outEnd"/>
              <c:showLegendKey val="0"/>
              <c:showVal val="0"/>
              <c:showCatName val="1"/>
              <c:showSerName val="0"/>
              <c:showPercent val="1"/>
              <c:showBubbleSize val="0"/>
              <c:separator>
</c:separator>
              <c:extLst>
                <c:ext xmlns:c15="http://schemas.microsoft.com/office/drawing/2012/chart" uri="{CE6537A1-D6FC-4f65-9D91-7224C49458BB}"/>
              </c:extLst>
            </c:dLbl>
            <c:dLbl>
              <c:idx val="2"/>
              <c:layout/>
              <c:tx>
                <c:rich>
                  <a:bodyPr rot="0" spcFirstLastPara="0" vertOverflow="ellipsis" vert="horz" wrap="square" lIns="38100" tIns="19050" rIns="38100" bIns="19050" anchor="ctr" anchorCtr="1"/>
                  <a:lstStyle/>
                  <a:p>
                    <a:pPr>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t>其他</a:t>
                    </a:r>
                    <a:endParaRPr lang="zh-CN" altLang="en-US" sz="1400"/>
                  </a:p>
                  <a:p>
                    <a:pPr>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400"/>
                      <a:t>9%</a:t>
                    </a:r>
                    <a:endParaRPr lang="en-US" altLang="zh-CN" sz="1400"/>
                  </a:p>
                </c:rich>
              </c:tx>
              <c:dLblPos val="outEnd"/>
              <c:showLegendKey val="0"/>
              <c:showVal val="0"/>
              <c:showCatName val="1"/>
              <c:showSerName val="0"/>
              <c:showPercent val="1"/>
              <c:showBubbleSize val="0"/>
              <c:separator>
</c:separator>
              <c:extLst>
                <c:ext xmlns:c15="http://schemas.microsoft.com/office/drawing/2012/chart" uri="{CE6537A1-D6FC-4f65-9D91-7224C49458BB}"/>
              </c:extLst>
            </c:dLbl>
            <c:dLbl>
              <c:idx val="3"/>
              <c:layout/>
              <c:tx>
                <c:rich>
                  <a:bodyPr rot="0" spcFirstLastPara="0" vertOverflow="ellipsis" vert="horz" wrap="square" lIns="38100" tIns="19050" rIns="38100" bIns="19050" anchor="ctr" anchorCtr="1"/>
                  <a:lstStyle/>
                  <a:p>
                    <a:pPr>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t>没用过</a:t>
                    </a:r>
                    <a:endParaRPr lang="zh-CN" altLang="en-US" sz="1400"/>
                  </a:p>
                  <a:p>
                    <a:pPr>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400"/>
                      <a:t>49%</a:t>
                    </a:r>
                    <a:endParaRPr lang="en-US" altLang="zh-CN" sz="1400"/>
                  </a:p>
                </c:rich>
              </c:tx>
              <c:dLblPos val="outEnd"/>
              <c:showLegendKey val="0"/>
              <c:showVal val="0"/>
              <c:showCatName val="1"/>
              <c:showSerName val="0"/>
              <c:showPercent val="1"/>
              <c:showBubbleSize val="0"/>
              <c:separator>
</c:separator>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dLblPos val="outEnd"/>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知道有人用了</c:v>
                </c:pt>
                <c:pt idx="1">
                  <c:v>用过</c:v>
                </c:pt>
                <c:pt idx="2">
                  <c:v>其他</c:v>
                </c:pt>
                <c:pt idx="3">
                  <c:v>没用过</c:v>
                </c:pt>
              </c:strCache>
            </c:strRef>
          </c:cat>
          <c:val>
            <c:numRef>
              <c:f>Sheet1!$B$2:$B$5</c:f>
              <c:numCache>
                <c:formatCode>General</c:formatCode>
                <c:ptCount val="4"/>
                <c:pt idx="0">
                  <c:v>31</c:v>
                </c:pt>
                <c:pt idx="1">
                  <c:v>11</c:v>
                </c:pt>
                <c:pt idx="2">
                  <c:v>9</c:v>
                </c:pt>
                <c:pt idx="3">
                  <c:v>49</c:v>
                </c:pt>
              </c:numCache>
            </c:numRef>
          </c:val>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6f34a72e-072f-495f-9c62-93e0c5541741}"/>
      </c:ext>
    </c:extLst>
  </c:chart>
  <c:spPr>
    <a:solidFill>
      <a:schemeClr val="bg1"/>
    </a:solidFill>
    <a:ln w="6350" cap="flat" cmpd="sng" algn="ctr">
      <a:noFill/>
      <a:round/>
    </a:ln>
    <a:effectLst>
      <a:outerShdw blurRad="63500" dist="37357" dir="2700000" sx="0" sy="0" rotWithShape="0">
        <a:scrgbClr r="0" g="0" b="0"/>
      </a:outerShdw>
    </a:effectLst>
  </c:spPr>
  <c:txPr>
    <a:bodyPr/>
    <a:lstStyle/>
    <a:p>
      <a:pPr>
        <a:defRPr lang="zh-CN" b="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a:t>美国成年人用过</a:t>
            </a:r>
            <a:r>
              <a:rPr lang="en-US" altLang="zh-CN"/>
              <a:t>Dating website</a:t>
            </a:r>
            <a:r>
              <a:rPr lang="zh-CN" altLang="en-US"/>
              <a:t>的感受</a:t>
            </a:r>
            <a:endParaRPr lang="zh-CN" altLang="en-US"/>
          </a:p>
        </c:rich>
      </c:tx>
      <c:layout>
        <c:manualLayout>
          <c:xMode val="edge"/>
          <c:yMode val="edge"/>
          <c:x val="0.0753411939467088"/>
          <c:y val="0.0250160359204618"/>
        </c:manualLayout>
      </c:layout>
      <c:overlay val="0"/>
      <c:spPr>
        <a:noFill/>
        <a:ln>
          <a:noFill/>
        </a:ln>
        <a:effectLst/>
      </c:spPr>
    </c:title>
    <c:autoTitleDeleted val="0"/>
    <c:plotArea>
      <c:layout>
        <c:manualLayout>
          <c:layoutTarget val="inner"/>
          <c:xMode val="edge"/>
          <c:yMode val="edge"/>
          <c:x val="0.0722719470677679"/>
          <c:y val="0.202141156051146"/>
          <c:w val="0.417206673100786"/>
          <c:h val="0.698039215686274"/>
        </c:manualLayout>
      </c:layout>
      <c:pieChart>
        <c:varyColors val="1"/>
        <c:ser>
          <c:idx val="0"/>
          <c:order val="0"/>
          <c:tx>
            <c:strRef>
              <c:f>Sheet1!$B$1</c:f>
              <c:strCache>
                <c:ptCount val="1"/>
                <c:pt idx="0">
                  <c:v>销售额</c:v>
                </c:pt>
              </c:strCache>
            </c:strRef>
          </c:tx>
          <c:spPr>
            <a:solidFill>
              <a:srgbClr val="008DF7"/>
            </a:solidFill>
            <a:ln w="28575">
              <a:solidFill>
                <a:sysClr val="window" lastClr="FFFFFF"/>
              </a:solidFill>
              <a:prstDash val="sysDash"/>
            </a:ln>
            <a:sp3d contourW="28575"/>
          </c:spPr>
          <c:explosion val="5"/>
          <c:dPt>
            <c:idx val="0"/>
            <c:bubble3D val="0"/>
            <c:explosion val="0"/>
            <c:spPr>
              <a:solidFill>
                <a:schemeClr val="accent1"/>
              </a:solidFill>
              <a:ln w="28575">
                <a:solidFill>
                  <a:sysClr val="window" lastClr="FFFFFF"/>
                </a:solidFill>
                <a:prstDash val="sysDash"/>
              </a:ln>
              <a:effectLst/>
              <a:sp3d contourW="28575"/>
            </c:spPr>
          </c:dPt>
          <c:dPt>
            <c:idx val="1"/>
            <c:bubble3D val="0"/>
            <c:explosion val="0"/>
            <c:spPr>
              <a:solidFill>
                <a:schemeClr val="accent2"/>
              </a:solidFill>
              <a:ln w="28575">
                <a:solidFill>
                  <a:sysClr val="window" lastClr="FFFFFF"/>
                </a:solidFill>
                <a:prstDash val="sysDash"/>
              </a:ln>
              <a:effectLst/>
              <a:sp3d contourW="28575"/>
            </c:spPr>
          </c:dPt>
          <c:dPt>
            <c:idx val="2"/>
            <c:bubble3D val="0"/>
            <c:explosion val="0"/>
            <c:spPr>
              <a:solidFill>
                <a:schemeClr val="accent3"/>
              </a:solidFill>
              <a:ln w="28575">
                <a:solidFill>
                  <a:sysClr val="window" lastClr="FFFFFF"/>
                </a:solidFill>
                <a:prstDash val="sysDash"/>
              </a:ln>
              <a:effectLst/>
              <a:sp3d contourW="28575"/>
            </c:spPr>
          </c:dPt>
          <c:dPt>
            <c:idx val="3"/>
            <c:bubble3D val="0"/>
            <c:spPr>
              <a:solidFill>
                <a:schemeClr val="accent4"/>
              </a:solidFill>
              <a:ln w="28575">
                <a:solidFill>
                  <a:sysClr val="window" lastClr="FFFFFF"/>
                </a:solidFill>
                <a:prstDash val="sysDash"/>
              </a:ln>
              <a:effectLst/>
              <a:sp3d contourW="28575"/>
            </c:spPr>
          </c:dPt>
          <c:dLbls>
            <c:dLbl>
              <c:idx val="0"/>
              <c:layout/>
              <c:dLblPos val="inEnd"/>
              <c:showLegendKey val="0"/>
              <c:showVal val="0"/>
              <c:showCatName val="0"/>
              <c:showSerName val="0"/>
              <c:showPercent val="1"/>
              <c:showBubbleSize val="0"/>
              <c:separator>
</c:separator>
              <c:extLst>
                <c:ext xmlns:c15="http://schemas.microsoft.com/office/drawing/2012/chart" uri="{CE6537A1-D6FC-4f65-9D91-7224C49458BB}"/>
              </c:extLst>
            </c:dLbl>
            <c:dLbl>
              <c:idx val="1"/>
              <c:layout/>
              <c:dLblPos val="inEnd"/>
              <c:showLegendKey val="0"/>
              <c:showVal val="0"/>
              <c:showCatName val="0"/>
              <c:showSerName val="0"/>
              <c:showPercent val="1"/>
              <c:showBubbleSize val="0"/>
              <c:separator>
</c:separator>
              <c:extLst>
                <c:ext xmlns:c15="http://schemas.microsoft.com/office/drawing/2012/chart" uri="{CE6537A1-D6FC-4f65-9D91-7224C49458BB}"/>
              </c:extLst>
            </c:dLbl>
            <c:dLbl>
              <c:idx val="2"/>
              <c:layout/>
              <c:dLblPos val="inEnd"/>
              <c:showLegendKey val="0"/>
              <c:showVal val="0"/>
              <c:showCatName val="0"/>
              <c:showSerName val="0"/>
              <c:showPercent val="1"/>
              <c:showBubbleSize val="0"/>
              <c:separator>
</c:separator>
              <c:extLst>
                <c:ext xmlns:c15="http://schemas.microsoft.com/office/drawing/2012/chart" uri="{CE6537A1-D6FC-4f65-9D91-7224C49458BB}"/>
              </c:extLst>
            </c:dLbl>
            <c:dLbl>
              <c:idx val="3"/>
              <c:layout/>
              <c:dLblPos val="inEnd"/>
              <c:showLegendKey val="0"/>
              <c:showVal val="0"/>
              <c:showCatName val="0"/>
              <c:showSerName val="0"/>
              <c:showPercent val="1"/>
              <c:showBubbleSize val="0"/>
              <c:separator>
</c:separator>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forceAA="0"/>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dLblPos val="inEnd"/>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积极为主</c:v>
                </c:pt>
                <c:pt idx="1">
                  <c:v>消极为主</c:v>
                </c:pt>
                <c:pt idx="2">
                  <c:v>其他</c:v>
                </c:pt>
              </c:strCache>
            </c:strRef>
          </c:cat>
          <c:val>
            <c:numRef>
              <c:f>Sheet1!$B$2:$B$5</c:f>
              <c:numCache>
                <c:formatCode>General</c:formatCode>
                <c:ptCount val="4"/>
                <c:pt idx="0">
                  <c:v>52</c:v>
                </c:pt>
                <c:pt idx="1">
                  <c:v>29</c:v>
                </c:pt>
                <c:pt idx="2">
                  <c:v>19</c:v>
                </c:pt>
                <c:pt idx="3">
                  <c:v>0</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t"/>
      <c:layout>
        <c:manualLayout>
          <c:xMode val="edge"/>
          <c:yMode val="edge"/>
          <c:x val="0.129403383537387"/>
          <c:y val="0.124333691851526"/>
        </c:manualLayou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
    <c:plotVisOnly val="1"/>
    <c:dispBlanksAs val="gap"/>
    <c:showDLblsOverMax val="0"/>
    <c:extLst>
      <c:ext uri="{0b15fc19-7d7d-44ad-8c2d-2c3a37ce22c3}">
        <chartProps xmlns="https://web.wps.cn/et/2018/main" chartId="{3b77feb1-3339-4aed-9665-fd804b43a31c}"/>
      </c:ext>
    </c:extLst>
  </c:chart>
  <c:spPr>
    <a:solidFill>
      <a:schemeClr val="bg1"/>
    </a:solidFill>
    <a:ln w="6350" cap="flat" cmpd="sng" algn="ctr">
      <a:noFill/>
      <a:round/>
    </a:ln>
    <a:effectLst>
      <a:outerShdw blurRad="63500" dist="37357" dir="2700000" sx="0" sy="0" rotWithShape="0">
        <a:scrgbClr r="0" g="0" b="0"/>
      </a:outerShdw>
    </a:effectLst>
  </c:spPr>
  <c:txPr>
    <a:bodyPr/>
    <a:lstStyle/>
    <a:p>
      <a:pPr>
        <a:defRPr lang="zh-CN" b="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hart" Target="../charts/chart2.xml"/><Relationship Id="rId1"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976120" y="1600200"/>
            <a:ext cx="14153515" cy="2387600"/>
          </a:xfrm>
        </p:spPr>
        <p:txBody>
          <a:bodyPr>
            <a:noAutofit/>
          </a:bodyPr>
          <a:lstStyle/>
          <a:p>
            <a:r>
              <a:rPr lang="en-US" altLang="zh-CN" sz="9600" dirty="0">
                <a:latin typeface="得意黑" pitchFamily="50" charset="-122"/>
                <a:ea typeface="得意黑" pitchFamily="50" charset="-122"/>
                <a:cs typeface="Times New Roman" panose="02020603050405020304" charset="0"/>
              </a:rPr>
              <a:t>The Internet And</a:t>
            </a:r>
            <a:br>
              <a:rPr lang="en-US" altLang="zh-CN" sz="9600" dirty="0">
                <a:latin typeface="得意黑" pitchFamily="50" charset="-122"/>
                <a:ea typeface="得意黑" pitchFamily="50" charset="-122"/>
                <a:cs typeface="Times New Roman" panose="02020603050405020304" charset="0"/>
              </a:rPr>
            </a:br>
            <a:r>
              <a:rPr lang="en-US" altLang="zh-CN" sz="9600" dirty="0">
                <a:latin typeface="得意黑" pitchFamily="50" charset="-122"/>
                <a:ea typeface="得意黑" pitchFamily="50" charset="-122"/>
                <a:cs typeface="Times New Roman" panose="02020603050405020304" charset="0"/>
              </a:rPr>
              <a:t>Relationships</a:t>
            </a:r>
            <a:endParaRPr lang="en-US" altLang="zh-CN" sz="9600" dirty="0">
              <a:latin typeface="得意黑" pitchFamily="50" charset="-122"/>
              <a:ea typeface="得意黑" pitchFamily="50" charset="-122"/>
              <a:cs typeface="Times New Roman" panose="02020603050405020304" charset="0"/>
            </a:endParaRPr>
          </a:p>
        </p:txBody>
      </p:sp>
      <p:sp>
        <p:nvSpPr>
          <p:cNvPr id="4" name="副标题 3"/>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76400" y="843463"/>
            <a:ext cx="10515600" cy="1325563"/>
          </a:xfrm>
        </p:spPr>
        <p:txBody>
          <a:bodyPr>
            <a:normAutofit/>
          </a:bodyPr>
          <a:lstStyle/>
          <a:p>
            <a:r>
              <a:rPr lang="en-US" altLang="zh-CN" sz="6000" dirty="0">
                <a:latin typeface="得意黑" pitchFamily="50" charset="-122"/>
                <a:ea typeface="得意黑" pitchFamily="50" charset="-122"/>
              </a:rPr>
              <a:t>Part 01 - Vocabulary</a:t>
            </a:r>
            <a:endParaRPr lang="en-US" altLang="zh-CN" sz="6000" dirty="0">
              <a:latin typeface="得意黑" pitchFamily="50" charset="-122"/>
              <a:ea typeface="得意黑" pitchFamily="50" charset="-122"/>
            </a:endParaRPr>
          </a:p>
        </p:txBody>
      </p:sp>
      <p:sp>
        <p:nvSpPr>
          <p:cNvPr id="5" name="内容占位符 2"/>
          <p:cNvSpPr>
            <a:spLocks noGrp="1"/>
          </p:cNvSpPr>
          <p:nvPr/>
        </p:nvSpPr>
        <p:spPr>
          <a:xfrm>
            <a:off x="6478905" y="1950085"/>
            <a:ext cx="525780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altLang="zh-CN" dirty="0"/>
          </a:p>
        </p:txBody>
      </p:sp>
      <p:sp>
        <p:nvSpPr>
          <p:cNvPr id="7" name="标题 1"/>
          <p:cNvSpPr txBox="1"/>
          <p:nvPr/>
        </p:nvSpPr>
        <p:spPr>
          <a:xfrm>
            <a:off x="1676400" y="225189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6000" dirty="0">
                <a:latin typeface="得意黑" pitchFamily="50" charset="-122"/>
                <a:ea typeface="得意黑" pitchFamily="50" charset="-122"/>
              </a:rPr>
              <a:t>Part 02 - Article Comprehension</a:t>
            </a:r>
            <a:endParaRPr lang="en-US" altLang="zh-CN" sz="6000" dirty="0">
              <a:latin typeface="得意黑" pitchFamily="50" charset="-122"/>
              <a:ea typeface="得意黑" pitchFamily="50" charset="-122"/>
            </a:endParaRPr>
          </a:p>
        </p:txBody>
      </p:sp>
      <p:sp>
        <p:nvSpPr>
          <p:cNvPr id="10" name="标题 1"/>
          <p:cNvSpPr txBox="1"/>
          <p:nvPr/>
        </p:nvSpPr>
        <p:spPr>
          <a:xfrm>
            <a:off x="1676400" y="36603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6000" dirty="0">
                <a:latin typeface="得意黑" pitchFamily="50" charset="-122"/>
                <a:ea typeface="得意黑" pitchFamily="50" charset="-122"/>
              </a:rPr>
              <a:t>Part 03 - Related Topics</a:t>
            </a:r>
            <a:endParaRPr lang="en-US" altLang="zh-CN" sz="6000" dirty="0">
              <a:latin typeface="得意黑" pitchFamily="50" charset="-122"/>
              <a:ea typeface="得意黑" pitchFamily="5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73860" y="1483995"/>
            <a:ext cx="8493125" cy="3408680"/>
          </a:xfrm>
        </p:spPr>
        <p:txBody>
          <a:bodyPr>
            <a:normAutofit/>
          </a:bodyPr>
          <a:lstStyle/>
          <a:p>
            <a:pPr algn="ctr"/>
            <a:r>
              <a:rPr lang="en-US" altLang="zh-CN" sz="8800" dirty="0">
                <a:latin typeface="得意黑" pitchFamily="50" charset="-122"/>
                <a:ea typeface="得意黑" pitchFamily="50" charset="-122"/>
              </a:rPr>
              <a:t>Part 01 -</a:t>
            </a:r>
            <a:br>
              <a:rPr lang="en-US" altLang="zh-CN" sz="8800" dirty="0">
                <a:latin typeface="得意黑" pitchFamily="50" charset="-122"/>
                <a:ea typeface="得意黑" pitchFamily="50" charset="-122"/>
              </a:rPr>
            </a:br>
            <a:r>
              <a:rPr lang="en-US" altLang="zh-CN" sz="8800" dirty="0">
                <a:latin typeface="得意黑" pitchFamily="50" charset="-122"/>
                <a:ea typeface="得意黑" pitchFamily="50" charset="-122"/>
              </a:rPr>
              <a:t>Vocabulary</a:t>
            </a:r>
            <a:endParaRPr lang="en-US" altLang="zh-CN" sz="8800" dirty="0">
              <a:latin typeface="得意黑" pitchFamily="50" charset="-122"/>
              <a:ea typeface="得意黑" pitchFamily="5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488315" y="1727200"/>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prəˈspektɪv</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adj.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潜在的；可能的；预期的；有望的；即将发生的；行将来临的</a:t>
            </a:r>
            <a:endParaRPr lang="en-US" altLang="zh-CN" sz="2800" dirty="0">
              <a:solidFill>
                <a:prstClr val="black"/>
              </a:solidFill>
              <a:latin typeface="Calibri" panose="020F0502020204030204"/>
              <a:ea typeface="微软雅黑" panose="020B0503020204020204" pitchFamily="34" charset="-122"/>
            </a:endParaRPr>
          </a:p>
          <a:p>
            <a:pPr>
              <a:lnSpc>
                <a:spcPct val="90000"/>
              </a:lnSpc>
              <a:spcBef>
                <a:spcPts val="1000"/>
              </a:spcBef>
              <a:defRPr/>
            </a:pP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例：</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prospective friends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潜在的朋友</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prospect</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n.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前景；展望；希望；前途；可能性</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gn="ctr"/>
            <a:endParaRPr lang="zh-CN" altLang="en-US" dirty="0"/>
          </a:p>
        </p:txBody>
      </p:sp>
      <p:sp>
        <p:nvSpPr>
          <p:cNvPr id="6" name="圆角矩形 5"/>
          <p:cNvSpPr/>
          <p:nvPr/>
        </p:nvSpPr>
        <p:spPr>
          <a:xfrm>
            <a:off x="6785157" y="613229"/>
            <a:ext cx="4390026"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unscrupulous</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2" name="圆角矩形 7"/>
          <p:cNvSpPr/>
          <p:nvPr/>
        </p:nvSpPr>
        <p:spPr>
          <a:xfrm>
            <a:off x="6381115" y="1698171"/>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ʌnˈskruːpjələs</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adj.</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肆无忌惮的；不道德的</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例：</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en-US" altLang="zh-CN" sz="280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unscrupulous</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people</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scrupulous</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adj.</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一丝不苟的；仔细的；细致的；审慎正直的；恪守道德规范的</a:t>
            </a:r>
            <a:endParaRPr lang="zh-CN" altLang="en-US" dirty="0"/>
          </a:p>
        </p:txBody>
      </p:sp>
      <p:sp>
        <p:nvSpPr>
          <p:cNvPr id="7" name="圆角矩形 5"/>
          <p:cNvSpPr/>
          <p:nvPr/>
        </p:nvSpPr>
        <p:spPr>
          <a:xfrm>
            <a:off x="906598" y="613229"/>
            <a:ext cx="4361544"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prospective</a:t>
            </a:r>
            <a:endPar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488315" y="1727200"/>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/ˌ</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eɪliəˈneɪʃn</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n. </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lang="en-US" altLang="zh-CN" sz="2800" dirty="0">
                <a:solidFill>
                  <a:prstClr val="black"/>
                </a:solidFill>
                <a:latin typeface="Calibri" panose="020F0502020204030204"/>
                <a:ea typeface="微软雅黑" panose="020B0503020204020204" pitchFamily="34" charset="-122"/>
              </a:rPr>
              <a:t>1.</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疏远</a:t>
            </a:r>
            <a:r>
              <a:rPr lang="zh-CN" altLang="en-US" sz="2800" dirty="0">
                <a:solidFill>
                  <a:prstClr val="black"/>
                </a:solidFill>
                <a:latin typeface="Calibri" panose="020F0502020204030204"/>
                <a:ea typeface="微软雅黑" panose="020B0503020204020204" pitchFamily="34" charset="-122"/>
              </a:rPr>
              <a:t>；（</a:t>
            </a:r>
            <a:r>
              <a:rPr lang="en-US" altLang="zh-CN" sz="2800" dirty="0">
                <a:solidFill>
                  <a:prstClr val="black"/>
                </a:solidFill>
                <a:latin typeface="Calibri" panose="020F0502020204030204"/>
                <a:ea typeface="微软雅黑" panose="020B0503020204020204" pitchFamily="34" charset="-122"/>
              </a:rPr>
              <a:t>common</a:t>
            </a:r>
            <a:r>
              <a:rPr lang="zh-CN" altLang="en-US" sz="2800" dirty="0">
                <a:solidFill>
                  <a:prstClr val="black"/>
                </a:solidFill>
                <a:latin typeface="Calibri" panose="020F0502020204030204"/>
                <a:ea typeface="微软雅黑" panose="020B0503020204020204" pitchFamily="34" charset="-122"/>
              </a:rPr>
              <a:t>）</a:t>
            </a:r>
            <a:endParaRPr lang="en-US" altLang="zh-CN" sz="2800" dirty="0">
              <a:solidFill>
                <a:prstClr val="black"/>
              </a:solidFill>
              <a:latin typeface="Calibri" panose="020F0502020204030204"/>
              <a:ea typeface="微软雅黑" panose="020B0503020204020204" pitchFamily="34" charset="-122"/>
            </a:endParaRPr>
          </a:p>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2.</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精神疯狂的状态；（</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here</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3.</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异化；（ </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philosophical term</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lang="en-US" altLang="zh-CN" sz="2800" dirty="0">
              <a:solidFill>
                <a:prstClr val="black"/>
              </a:solidFill>
              <a:latin typeface="Calibri" panose="020F0502020204030204"/>
              <a:ea typeface="微软雅黑" panose="020B0503020204020204" pitchFamily="34" charset="-122"/>
            </a:endParaRPr>
          </a:p>
          <a:p>
            <a:pPr>
              <a:lnSpc>
                <a:spcPct val="90000"/>
              </a:lnSpc>
              <a:spcBef>
                <a:spcPts val="1000"/>
              </a:spcBef>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alienist</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n.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研究精神病的医生</a:t>
            </a:r>
            <a:endParaRPr lang="zh-CN" altLang="en-US" dirty="0"/>
          </a:p>
        </p:txBody>
      </p:sp>
      <p:sp>
        <p:nvSpPr>
          <p:cNvPr id="6" name="圆角矩形 5"/>
          <p:cNvSpPr/>
          <p:nvPr/>
        </p:nvSpPr>
        <p:spPr>
          <a:xfrm>
            <a:off x="6785157" y="613229"/>
            <a:ext cx="4390026"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anonymous</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2" name="圆角矩形 7"/>
          <p:cNvSpPr/>
          <p:nvPr/>
        </p:nvSpPr>
        <p:spPr>
          <a:xfrm>
            <a:off x="6381115" y="1698170"/>
            <a:ext cx="5198110" cy="4869543"/>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əˈnɒnɪməs</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adj.</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匿名的</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lang="zh-CN" altLang="en-US" sz="2800" b="1" dirty="0">
                <a:solidFill>
                  <a:prstClr val="black"/>
                </a:solidFill>
                <a:latin typeface="Calibri" panose="020F0502020204030204"/>
                <a:ea typeface="微软雅黑" panose="020B0503020204020204" pitchFamily="34" charset="-122"/>
              </a:rPr>
              <a:t>例：</a:t>
            </a:r>
            <a:r>
              <a:rPr lang="en-US" altLang="zh-CN" sz="2800" dirty="0">
                <a:solidFill>
                  <a:prstClr val="black"/>
                </a:solidFill>
                <a:latin typeface="Calibri" panose="020F0502020204030204"/>
                <a:ea typeface="微软雅黑" panose="020B0503020204020204" pitchFamily="34" charset="-122"/>
              </a:rPr>
              <a:t>The anonymous nature of Internet communication does make it easy for dishonest individuals to take advantage of others.</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onymous</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rare</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adj.</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（文章等）署了名的</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2800" dirty="0">
                <a:solidFill>
                  <a:prstClr val="black"/>
                </a:solidFill>
                <a:latin typeface="Calibri" panose="020F0502020204030204"/>
                <a:ea typeface="微软雅黑" panose="020B0503020204020204" pitchFamily="34" charset="-122"/>
              </a:rPr>
              <a:t>anonymity</a:t>
            </a:r>
            <a:r>
              <a:rPr lang="zh-CN" altLang="en-US" sz="2800" dirty="0">
                <a:solidFill>
                  <a:prstClr val="black"/>
                </a:solidFill>
                <a:latin typeface="Calibri" panose="020F0502020204030204"/>
                <a:ea typeface="微软雅黑" panose="020B0503020204020204" pitchFamily="34" charset="-122"/>
              </a:rPr>
              <a:t>：匿名性</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7" name="圆角矩形 5"/>
          <p:cNvSpPr/>
          <p:nvPr/>
        </p:nvSpPr>
        <p:spPr>
          <a:xfrm>
            <a:off x="1016817" y="613229"/>
            <a:ext cx="3983628"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5400" b="1" dirty="0">
                <a:solidFill>
                  <a:prstClr val="black"/>
                </a:solidFill>
                <a:latin typeface="Calibri" panose="020F0502020204030204"/>
                <a:ea typeface="微软雅黑" panose="020B0503020204020204" pitchFamily="34" charset="-122"/>
              </a:rPr>
              <a:t>a</a:t>
            </a:r>
            <a:r>
              <a:rPr kumimoji="0" lang="en-US" altLang="zh-CN" sz="5400" b="1"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lienation</a:t>
            </a:r>
            <a:endPar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488315" y="1727200"/>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/ˈ</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ɪntɪməsi</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n.</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亲密；密切；</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例：</a:t>
            </a:r>
            <a:r>
              <a:rPr kumimoji="0" lang="en-US" altLang="zh-CN" sz="280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Sometimes this experience can provide a false sense of intimacy, which can create uncomfortable feelings.</a:t>
            </a:r>
            <a:endParaRPr kumimoji="0" lang="en-US" altLang="zh-CN" sz="280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intimate</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adj.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亲密的</a:t>
            </a:r>
            <a:endParaRPr lang="zh-CN" altLang="en-US" dirty="0"/>
          </a:p>
        </p:txBody>
      </p:sp>
      <p:sp>
        <p:nvSpPr>
          <p:cNvPr id="6" name="圆角矩形 5"/>
          <p:cNvSpPr/>
          <p:nvPr/>
        </p:nvSpPr>
        <p:spPr>
          <a:xfrm>
            <a:off x="6785157" y="613229"/>
            <a:ext cx="4390026"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liaison </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2" name="圆角矩形 7"/>
          <p:cNvSpPr/>
          <p:nvPr/>
        </p:nvSpPr>
        <p:spPr>
          <a:xfrm>
            <a:off x="6381115" y="1698171"/>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liˈeɪzn</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adj.</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联络；私通；</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lang="zh-CN" altLang="en-US" sz="2800" b="1" dirty="0">
                <a:solidFill>
                  <a:prstClr val="black"/>
                </a:solidFill>
                <a:latin typeface="Calibri" panose="020F0502020204030204"/>
                <a:ea typeface="微软雅黑" panose="020B0503020204020204" pitchFamily="34" charset="-122"/>
              </a:rPr>
              <a:t>例：</a:t>
            </a:r>
            <a:r>
              <a:rPr lang="en-US" altLang="zh-CN" sz="2800" dirty="0">
                <a:solidFill>
                  <a:prstClr val="black"/>
                </a:solidFill>
                <a:latin typeface="Calibri" panose="020F0502020204030204"/>
                <a:ea typeface="微软雅黑" panose="020B0503020204020204" pitchFamily="34" charset="-122"/>
              </a:rPr>
              <a:t>Millions being lured into dangerous liaisons by unscrupulous people.</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liaise</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vi.</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与某人</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联络，联系（</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with</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）；做联系人；担当联络员（</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between</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lang="zh-CN" altLang="en-US" dirty="0"/>
          </a:p>
        </p:txBody>
      </p:sp>
      <p:sp>
        <p:nvSpPr>
          <p:cNvPr id="7" name="圆角矩形 5"/>
          <p:cNvSpPr/>
          <p:nvPr/>
        </p:nvSpPr>
        <p:spPr>
          <a:xfrm>
            <a:off x="1016817" y="613229"/>
            <a:ext cx="3983628"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5400" b="1" dirty="0">
                <a:solidFill>
                  <a:prstClr val="black"/>
                </a:solidFill>
                <a:latin typeface="Calibri" panose="020F0502020204030204"/>
                <a:ea typeface="微软雅黑" panose="020B0503020204020204" pitchFamily="34" charset="-122"/>
              </a:rPr>
              <a:t>intimacy</a:t>
            </a:r>
            <a:endPar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488315" y="1727200"/>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prɒkˈsɪməti</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n.</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接近；邻近；靠近；</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例：</a:t>
            </a:r>
            <a:r>
              <a:rPr kumimoji="0" lang="en-US" altLang="zh-CN" sz="280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For example, good looks and close physical proximity are powerful factors in initial attraction in the real world.</a:t>
            </a:r>
            <a:endParaRPr kumimoji="0" lang="en-US" altLang="zh-CN" sz="280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proximal</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adj.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近端的；近身体中心的（</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medical term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lang="zh-CN" altLang="en-US" dirty="0"/>
          </a:p>
        </p:txBody>
      </p:sp>
      <p:sp>
        <p:nvSpPr>
          <p:cNvPr id="6" name="圆角矩形 5"/>
          <p:cNvSpPr/>
          <p:nvPr/>
        </p:nvSpPr>
        <p:spPr>
          <a:xfrm>
            <a:off x="6785157" y="613229"/>
            <a:ext cx="4390026"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self-disclosure  </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2" name="圆角矩形 7"/>
          <p:cNvSpPr/>
          <p:nvPr/>
        </p:nvSpPr>
        <p:spPr>
          <a:xfrm>
            <a:off x="6381115" y="1698171"/>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/self </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dɪsˈkləʊʒə</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n.</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自我披露；自我揭露；</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lang="zh-CN" altLang="en-US" sz="2800" b="1" dirty="0">
                <a:solidFill>
                  <a:prstClr val="black"/>
                </a:solidFill>
                <a:latin typeface="Calibri" panose="020F0502020204030204"/>
                <a:ea typeface="微软雅黑" panose="020B0503020204020204" pitchFamily="34" charset="-122"/>
              </a:rPr>
              <a:t>例：</a:t>
            </a:r>
            <a:r>
              <a:rPr lang="en-US" altLang="zh-CN" sz="2800" dirty="0">
                <a:solidFill>
                  <a:prstClr val="black"/>
                </a:solidFill>
                <a:latin typeface="Calibri" panose="020F0502020204030204"/>
                <a:ea typeface="微软雅黑" panose="020B0503020204020204" pitchFamily="34" charset="-122"/>
              </a:rPr>
              <a:t>Self-disclosure is another relationship issue affected by the differences in the two types of communication.</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disclosure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n.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披露</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7" name="圆角矩形 5"/>
          <p:cNvSpPr/>
          <p:nvPr/>
        </p:nvSpPr>
        <p:spPr>
          <a:xfrm>
            <a:off x="1016817" y="613229"/>
            <a:ext cx="3983628"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5400" b="1" dirty="0">
                <a:solidFill>
                  <a:prstClr val="black"/>
                </a:solidFill>
                <a:latin typeface="Calibri" panose="020F0502020204030204"/>
                <a:ea typeface="微软雅黑" panose="020B0503020204020204" pitchFamily="34" charset="-122"/>
              </a:rPr>
              <a:t>proximity</a:t>
            </a:r>
            <a:endPar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488315" y="1727200"/>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əˈsjuːm</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 v</a:t>
            </a:r>
            <a:r>
              <a:rPr lang="en-US" altLang="zh-CN" sz="2800" dirty="0">
                <a:solidFill>
                  <a:prstClr val="black"/>
                </a:solidFill>
                <a:latin typeface="Calibri" panose="020F0502020204030204"/>
                <a:ea typeface="微软雅黑" panose="020B0503020204020204" pitchFamily="34" charset="-122"/>
              </a:rPr>
              <a:t>.</a:t>
            </a:r>
            <a:endParaRPr lang="en-US" altLang="zh-CN" sz="2800" dirty="0">
              <a:solidFill>
                <a:prstClr val="black"/>
              </a:solidFill>
              <a:latin typeface="Calibri" panose="020F0502020204030204"/>
              <a:ea typeface="微软雅黑" panose="020B0503020204020204" pitchFamily="34" charset="-122"/>
            </a:endParaRPr>
          </a:p>
          <a:p>
            <a:pPr>
              <a:lnSpc>
                <a:spcPct val="90000"/>
              </a:lnSpc>
              <a:spcBef>
                <a:spcPts val="1000"/>
              </a:spcBef>
              <a:defRPr/>
            </a:pP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文中是“承担”的意思</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例：</a:t>
            </a:r>
            <a:r>
              <a:rPr kumimoji="0" lang="en-US" altLang="zh-CN" sz="280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The </a:t>
            </a:r>
            <a:r>
              <a:rPr lang="en-US" altLang="zh-CN" sz="2800" dirty="0">
                <a:solidFill>
                  <a:prstClr val="black"/>
                </a:solidFill>
                <a:latin typeface="Calibri" panose="020F0502020204030204"/>
                <a:ea typeface="微软雅黑" panose="020B0503020204020204" pitchFamily="34" charset="-122"/>
              </a:rPr>
              <a:t>Internet has also assumed tremendous importance.</a:t>
            </a:r>
            <a:endParaRPr kumimoji="0" lang="en-US" altLang="zh-CN" sz="280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6" name="圆角矩形 5"/>
          <p:cNvSpPr/>
          <p:nvPr/>
        </p:nvSpPr>
        <p:spPr>
          <a:xfrm>
            <a:off x="7191557" y="613229"/>
            <a:ext cx="3519986"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shroud  </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2" name="圆角矩形 7"/>
          <p:cNvSpPr/>
          <p:nvPr/>
        </p:nvSpPr>
        <p:spPr>
          <a:xfrm>
            <a:off x="6381115" y="1698171"/>
            <a:ext cx="5198110" cy="4354196"/>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err="1">
                <a:ln>
                  <a:noFill/>
                </a:ln>
                <a:solidFill>
                  <a:prstClr val="black"/>
                </a:solidFill>
                <a:effectLst/>
                <a:uLnTx/>
                <a:uFillTx/>
                <a:latin typeface="Calibri" panose="020F0502020204030204"/>
                <a:ea typeface="微软雅黑" panose="020B0503020204020204" pitchFamily="34" charset="-122"/>
                <a:cs typeface="+mn-cs"/>
              </a:rPr>
              <a:t>ʃraʊd</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lang="en-US" altLang="zh-CN" sz="2800" dirty="0">
                <a:solidFill>
                  <a:prstClr val="black"/>
                </a:solidFill>
                <a:latin typeface="Calibri" panose="020F0502020204030204"/>
                <a:ea typeface="微软雅黑" panose="020B0503020204020204" pitchFamily="34" charset="-122"/>
              </a:rPr>
              <a:t>vi.</a:t>
            </a:r>
            <a:r>
              <a:rPr lang="zh-CN" altLang="en-US" sz="2800" dirty="0">
                <a:solidFill>
                  <a:prstClr val="black"/>
                </a:solidFill>
                <a:latin typeface="Calibri" panose="020F0502020204030204"/>
                <a:ea typeface="微软雅黑" panose="020B0503020204020204" pitchFamily="34" charset="-122"/>
              </a:rPr>
              <a:t>覆盖</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n.</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覆盖物；寿衣</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lang="zh-CN" altLang="en-US" sz="2800" b="1" dirty="0">
                <a:solidFill>
                  <a:prstClr val="black"/>
                </a:solidFill>
                <a:latin typeface="Calibri" panose="020F0502020204030204"/>
                <a:ea typeface="微软雅黑" panose="020B0503020204020204" pitchFamily="34" charset="-122"/>
              </a:rPr>
              <a:t>例：</a:t>
            </a:r>
            <a:r>
              <a:rPr lang="en-US" altLang="zh-CN" sz="2800" dirty="0">
                <a:solidFill>
                  <a:prstClr val="black"/>
                </a:solidFill>
                <a:latin typeface="Calibri" panose="020F0502020204030204"/>
                <a:ea typeface="微软雅黑" panose="020B0503020204020204" pitchFamily="34" charset="-122"/>
              </a:rPr>
              <a:t>Internet is shrouded in the cloak of anonymity.</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相关</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disclosure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n. </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披露</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7" name="圆角矩形 5"/>
          <p:cNvSpPr/>
          <p:nvPr/>
        </p:nvSpPr>
        <p:spPr>
          <a:xfrm>
            <a:off x="1016817" y="613229"/>
            <a:ext cx="3983628" cy="965200"/>
          </a:xfrm>
          <a:prstGeom prst="roundRect">
            <a:avLst/>
          </a:prstGeom>
          <a:noFill/>
          <a:ln w="381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5400" b="1" dirty="0">
                <a:solidFill>
                  <a:prstClr val="black"/>
                </a:solidFill>
                <a:latin typeface="Calibri" panose="020F0502020204030204"/>
                <a:ea typeface="微软雅黑" panose="020B0503020204020204" pitchFamily="34" charset="-122"/>
              </a:rPr>
              <a:t>assume</a:t>
            </a:r>
            <a:endParaRPr kumimoji="0" lang="en-US" altLang="zh-CN" sz="5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83596" y="1543262"/>
            <a:ext cx="8824807" cy="3408680"/>
          </a:xfrm>
        </p:spPr>
        <p:txBody>
          <a:bodyPr>
            <a:normAutofit fontScale="90000"/>
          </a:bodyPr>
          <a:lstStyle/>
          <a:p>
            <a:pPr algn="ctr"/>
            <a:r>
              <a:rPr lang="en-US" altLang="zh-CN" sz="8800" dirty="0">
                <a:latin typeface="得意黑" pitchFamily="50" charset="-122"/>
                <a:ea typeface="得意黑" pitchFamily="50" charset="-122"/>
              </a:rPr>
              <a:t>Part 02 -</a:t>
            </a:r>
            <a:br>
              <a:rPr lang="en-US" altLang="zh-CN" sz="8800" dirty="0">
                <a:latin typeface="得意黑" pitchFamily="50" charset="-122"/>
                <a:ea typeface="得意黑" pitchFamily="50" charset="-122"/>
              </a:rPr>
            </a:br>
            <a:r>
              <a:rPr lang="en-US" altLang="zh-CN" sz="8800" dirty="0">
                <a:latin typeface="得意黑" pitchFamily="50" charset="-122"/>
                <a:ea typeface="得意黑" pitchFamily="50" charset="-122"/>
              </a:rPr>
              <a:t>Article Comprehension</a:t>
            </a:r>
            <a:endParaRPr lang="en-US" altLang="zh-CN" sz="8800" dirty="0">
              <a:latin typeface="得意黑" pitchFamily="50" charset="-122"/>
              <a:ea typeface="得意黑" pitchFamily="5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8000" dirty="0">
                <a:latin typeface="得意黑" pitchFamily="50" charset="-122"/>
                <a:ea typeface="得意黑" pitchFamily="50" charset="-122"/>
              </a:rPr>
              <a:t>Structure</a:t>
            </a:r>
            <a:endParaRPr lang="en-US" altLang="zh-CN" sz="8000" dirty="0">
              <a:latin typeface="得意黑" pitchFamily="50" charset="-122"/>
              <a:ea typeface="得意黑" pitchFamily="50" charset="-122"/>
            </a:endParaRPr>
          </a:p>
        </p:txBody>
      </p:sp>
      <p:pic>
        <p:nvPicPr>
          <p:cNvPr id="4" name="内容占位符 3" descr="72213b98280f5583fb65729b788e77c"/>
          <p:cNvPicPr>
            <a:picLocks noGrp="1" noChangeAspect="1"/>
          </p:cNvPicPr>
          <p:nvPr>
            <p:ph idx="1"/>
          </p:nvPr>
        </p:nvPicPr>
        <p:blipFill>
          <a:blip r:embed="rId1"/>
          <a:stretch>
            <a:fillRect/>
          </a:stretch>
        </p:blipFill>
        <p:spPr>
          <a:xfrm>
            <a:off x="99060" y="2304415"/>
            <a:ext cx="11711940" cy="33934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6443"/>
            <a:ext cx="10515600" cy="1325563"/>
          </a:xfrm>
        </p:spPr>
        <p:txBody>
          <a:bodyPr/>
          <a:lstStyle/>
          <a:p>
            <a:r>
              <a:rPr lang="en-US" altLang="zh-CN" sz="8000" dirty="0">
                <a:latin typeface="得意黑" pitchFamily="50" charset="-122"/>
                <a:ea typeface="得意黑" pitchFamily="50" charset="-122"/>
              </a:rPr>
              <a:t>Structure</a:t>
            </a:r>
            <a:endParaRPr lang="en-US" altLang="zh-CN" sz="8000" dirty="0">
              <a:latin typeface="得意黑" pitchFamily="50" charset="-122"/>
              <a:ea typeface="得意黑" pitchFamily="50" charset="-122"/>
            </a:endParaRPr>
          </a:p>
        </p:txBody>
      </p:sp>
      <p:pic>
        <p:nvPicPr>
          <p:cNvPr id="15" name="图片 14"/>
          <p:cNvPicPr>
            <a:picLocks noChangeAspect="1"/>
          </p:cNvPicPr>
          <p:nvPr/>
        </p:nvPicPr>
        <p:blipFill>
          <a:blip r:embed="rId1"/>
          <a:stretch>
            <a:fillRect/>
          </a:stretch>
        </p:blipFill>
        <p:spPr>
          <a:xfrm>
            <a:off x="0" y="1467459"/>
            <a:ext cx="12192000" cy="523409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327660"/>
            <a:ext cx="4102100" cy="549910"/>
          </a:xfrm>
        </p:spPr>
        <p:txBody>
          <a:bodyPr>
            <a:noAutofit/>
          </a:bodyPr>
          <a:lstStyle/>
          <a:p>
            <a:r>
              <a:rPr lang="en-US" altLang="zh-CN" sz="2800" dirty="0"/>
              <a:t>Introduction-Paragraph1</a:t>
            </a:r>
            <a:endParaRPr lang="en-US" altLang="zh-CN" sz="2800" dirty="0"/>
          </a:p>
        </p:txBody>
      </p:sp>
      <p:pic>
        <p:nvPicPr>
          <p:cNvPr id="4" name="图片 3"/>
          <p:cNvPicPr>
            <a:picLocks noChangeAspect="1"/>
          </p:cNvPicPr>
          <p:nvPr/>
        </p:nvPicPr>
        <p:blipFill>
          <a:blip r:embed="rId1"/>
          <a:stretch>
            <a:fillRect/>
          </a:stretch>
        </p:blipFill>
        <p:spPr>
          <a:xfrm>
            <a:off x="6390458" y="2903673"/>
            <a:ext cx="5354320" cy="1656715"/>
          </a:xfrm>
          <a:prstGeom prst="rect">
            <a:avLst/>
          </a:prstGeom>
        </p:spPr>
      </p:pic>
      <p:sp>
        <p:nvSpPr>
          <p:cNvPr id="5" name="标题 1"/>
          <p:cNvSpPr>
            <a:spLocks noGrp="1"/>
          </p:cNvSpPr>
          <p:nvPr/>
        </p:nvSpPr>
        <p:spPr>
          <a:xfrm>
            <a:off x="572770" y="877570"/>
            <a:ext cx="10515600" cy="941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buNone/>
            </a:pPr>
            <a:r>
              <a:rPr lang="zh-CN" altLang="en-US" sz="6600" dirty="0">
                <a:latin typeface="得意黑" pitchFamily="50" charset="-122"/>
                <a:ea typeface="得意黑" pitchFamily="50" charset="-122"/>
                <a:sym typeface="+mn-ea"/>
              </a:rPr>
              <a:t>Past and Now——Ways to Meet </a:t>
            </a:r>
            <a:endParaRPr lang="zh-CN" altLang="en-US" sz="6600" dirty="0">
              <a:latin typeface="得意黑" pitchFamily="50" charset="-122"/>
              <a:ea typeface="得意黑" pitchFamily="50" charset="-122"/>
              <a:sym typeface="+mn-ea"/>
            </a:endParaRPr>
          </a:p>
        </p:txBody>
      </p:sp>
      <p:sp>
        <p:nvSpPr>
          <p:cNvPr id="6" name="圆角矩形 5"/>
          <p:cNvSpPr/>
          <p:nvPr/>
        </p:nvSpPr>
        <p:spPr>
          <a:xfrm>
            <a:off x="902970" y="1818640"/>
            <a:ext cx="5243830" cy="4794250"/>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Phase 1</a:t>
            </a: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In the past, people were limited to friends and lovers they met at school, workplaces, or religious organizations.   </a:t>
            </a: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Phase 2</a:t>
            </a: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 </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Later, they met through club scenes, self-advertisements published in newspapers, and video dating services. </a:t>
            </a: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2400" b="1" dirty="0">
                <a:solidFill>
                  <a:prstClr val="black"/>
                </a:solidFill>
                <a:latin typeface="Calibri" panose="020F0502020204030204"/>
                <a:ea typeface="微软雅黑" panose="020B0503020204020204" pitchFamily="34" charset="-122"/>
              </a:rPr>
              <a:t>Phase 3 (</a:t>
            </a: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Now): </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In recent years, the internet has greatly expanded the ways people meet friends and lovers, such as online dating services, email, online chat rooms, and newsgroups.</a:t>
            </a:r>
            <a:endParaRPr kumimoji="0" lang="zh-CN" altLang="en-US" sz="7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226060"/>
            <a:ext cx="4102100" cy="549910"/>
          </a:xfrm>
        </p:spPr>
        <p:txBody>
          <a:bodyPr>
            <a:noAutofit/>
          </a:bodyPr>
          <a:lstStyle/>
          <a:p>
            <a:r>
              <a:rPr lang="en-US" altLang="zh-CN" sz="2800" dirty="0"/>
              <a:t>Introduction-Paragraph2</a:t>
            </a:r>
            <a:endParaRPr lang="en-US" altLang="zh-CN" sz="2800" dirty="0"/>
          </a:p>
        </p:txBody>
      </p:sp>
      <p:sp>
        <p:nvSpPr>
          <p:cNvPr id="5" name="标题 1"/>
          <p:cNvSpPr>
            <a:spLocks noGrp="1"/>
          </p:cNvSpPr>
          <p:nvPr/>
        </p:nvSpPr>
        <p:spPr>
          <a:xfrm>
            <a:off x="333375" y="501015"/>
            <a:ext cx="12646660" cy="11563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buNone/>
            </a:pPr>
            <a:r>
              <a:rPr lang="zh-CN" altLang="en-US" sz="6600" dirty="0">
                <a:latin typeface="得意黑" pitchFamily="50" charset="-122"/>
                <a:ea typeface="得意黑" pitchFamily="50" charset="-122"/>
                <a:sym typeface="+mn-ea"/>
              </a:rPr>
              <a:t> View</a:t>
            </a:r>
            <a:r>
              <a:rPr lang="en-US" altLang="zh-CN" sz="6600" dirty="0">
                <a:latin typeface="得意黑" pitchFamily="50" charset="-122"/>
                <a:ea typeface="得意黑" pitchFamily="50" charset="-122"/>
                <a:sym typeface="+mn-ea"/>
              </a:rPr>
              <a:t>s On </a:t>
            </a:r>
            <a:r>
              <a:rPr lang="zh-CN" altLang="en-US" sz="6600" dirty="0">
                <a:latin typeface="得意黑" pitchFamily="50" charset="-122"/>
                <a:ea typeface="得意黑" pitchFamily="50" charset="-122"/>
                <a:sym typeface="+mn-ea"/>
              </a:rPr>
              <a:t>Internet Communication </a:t>
            </a:r>
            <a:endParaRPr lang="zh-CN" altLang="en-US" sz="6600" dirty="0">
              <a:latin typeface="得意黑" pitchFamily="50" charset="-122"/>
              <a:ea typeface="得意黑" pitchFamily="50" charset="-122"/>
              <a:sym typeface="+mn-ea"/>
            </a:endParaRPr>
          </a:p>
        </p:txBody>
      </p:sp>
      <p:pic>
        <p:nvPicPr>
          <p:cNvPr id="6" name="图片 5"/>
          <p:cNvPicPr>
            <a:picLocks noChangeAspect="1"/>
          </p:cNvPicPr>
          <p:nvPr/>
        </p:nvPicPr>
        <p:blipFill>
          <a:blip r:embed="rId1"/>
          <a:stretch>
            <a:fillRect/>
          </a:stretch>
        </p:blipFill>
        <p:spPr>
          <a:xfrm>
            <a:off x="6874510" y="2505075"/>
            <a:ext cx="4968875" cy="3383280"/>
          </a:xfrm>
          <a:prstGeom prst="rect">
            <a:avLst/>
          </a:prstGeom>
        </p:spPr>
      </p:pic>
      <p:sp>
        <p:nvSpPr>
          <p:cNvPr id="4" name="圆角矩形 3"/>
          <p:cNvSpPr/>
          <p:nvPr/>
        </p:nvSpPr>
        <p:spPr>
          <a:xfrm>
            <a:off x="259080" y="1574799"/>
            <a:ext cx="6397625" cy="5138057"/>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Opposite views</a:t>
            </a:r>
            <a:endParaRPr kumimoji="0" lang="zh-CN" altLang="en-US" sz="2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Critics argue that the promotion of online communication has led to the death of face-to-face communication, accelerated feelings of alienation between people, and made it easy for unfriendly strangers to harass. </a:t>
            </a: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a:lnSpc>
                <a:spcPct val="90000"/>
              </a:lnSpc>
              <a:spcBef>
                <a:spcPts val="1000"/>
              </a:spcBef>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Positive views</a:t>
            </a:r>
            <a:endParaRPr kumimoji="0" lang="en-US" altLang="zh-CN" sz="24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However, studies show that online communication is positive, breaking down geographical barriers between people and providing more information and communication opportunities for those with physical disabilities and social anxiety. </a:t>
            </a: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To protect personal information is the solution to previous problem.</a:t>
            </a:r>
            <a:endParaRPr kumimoji="0" lang="zh-CN" altLang="en-US" sz="1600" b="1"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402272" y="144780"/>
            <a:ext cx="11387455" cy="19297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gn="l">
              <a:buNone/>
            </a:pPr>
            <a:r>
              <a:rPr lang="en-US" altLang="zh-CN" sz="4800" dirty="0">
                <a:latin typeface="得意黑" pitchFamily="50" charset="-122"/>
                <a:ea typeface="得意黑" pitchFamily="50" charset="-122"/>
                <a:sym typeface="+mn-ea"/>
              </a:rPr>
              <a:t>Three features - Paragraph3: indispensable.</a:t>
            </a:r>
            <a:endParaRPr lang="zh-CN" altLang="en-US" sz="4800" dirty="0">
              <a:latin typeface="得意黑" pitchFamily="50" charset="-122"/>
              <a:ea typeface="得意黑" pitchFamily="50" charset="-122"/>
            </a:endParaRPr>
          </a:p>
          <a:p>
            <a:pPr marL="0" indent="0" algn="l">
              <a:buNone/>
            </a:pPr>
            <a:r>
              <a:rPr lang="zh-CN" altLang="en-US" dirty="0">
                <a:latin typeface="得意黑" pitchFamily="50" charset="-122"/>
                <a:ea typeface="得意黑" pitchFamily="50" charset="-122"/>
                <a:sym typeface="+mn-ea"/>
              </a:rPr>
              <a:t> </a:t>
            </a:r>
            <a:endParaRPr lang="zh-CN" altLang="en-US" dirty="0">
              <a:latin typeface="得意黑" pitchFamily="50" charset="-122"/>
              <a:ea typeface="得意黑" pitchFamily="50" charset="-122"/>
              <a:sym typeface="+mn-ea"/>
            </a:endParaRPr>
          </a:p>
        </p:txBody>
      </p:sp>
      <p:graphicFrame>
        <p:nvGraphicFramePr>
          <p:cNvPr id="3" name="图表 2" descr="7b0a202020202263686172745265734964223a20223230343736383936220a7d0a"/>
          <p:cNvGraphicFramePr/>
          <p:nvPr/>
        </p:nvGraphicFramePr>
        <p:xfrm>
          <a:off x="-618490" y="2352675"/>
          <a:ext cx="7505519" cy="436054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图表 6" descr="7b0a202020202263686172745265734964223a20223230343736343530220a7d0a"/>
          <p:cNvGraphicFramePr/>
          <p:nvPr/>
        </p:nvGraphicFramePr>
        <p:xfrm>
          <a:off x="6125028" y="2352675"/>
          <a:ext cx="7820478" cy="4624161"/>
        </p:xfrm>
        <a:graphic>
          <a:graphicData uri="http://schemas.openxmlformats.org/drawingml/2006/chart">
            <c:chart xmlns:c="http://schemas.openxmlformats.org/drawingml/2006/chart" xmlns:r="http://schemas.openxmlformats.org/officeDocument/2006/relationships" r:id="rId2"/>
          </a:graphicData>
        </a:graphic>
      </p:graphicFrame>
      <p:sp>
        <p:nvSpPr>
          <p:cNvPr id="8" name="文本框 7"/>
          <p:cNvSpPr txBox="1"/>
          <p:nvPr/>
        </p:nvSpPr>
        <p:spPr>
          <a:xfrm>
            <a:off x="542471" y="1285095"/>
            <a:ext cx="10807699" cy="830997"/>
          </a:xfrm>
          <a:prstGeom prst="rect">
            <a:avLst/>
          </a:prstGeom>
          <a:noFill/>
        </p:spPr>
        <p:txBody>
          <a:bodyPr wrap="square">
            <a:spAutoFit/>
          </a:bodyPr>
          <a:lstStyle/>
          <a:p>
            <a:r>
              <a:rPr lang="en-US" altLang="zh-CN" sz="2400" b="0" i="0" dirty="0">
                <a:effectLst/>
                <a:latin typeface="Helvetica Neue"/>
              </a:rPr>
              <a:t>The Internet is indispensable for making acquaintances and developing relationships. One survey reported:</a:t>
            </a:r>
            <a:endParaRPr lang="zh-CN"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92430" y="1134745"/>
            <a:ext cx="6569710" cy="5204460"/>
          </a:xfrm>
          <a:prstGeom prst="roundRect">
            <a:avLst>
              <a:gd name="adj" fmla="val 5237"/>
            </a:avLst>
          </a:prstGeom>
          <a:solidFill>
            <a:schemeClr val="bg1"/>
          </a:solidFill>
          <a:ln w="12700" cmpd="sng">
            <a:gradFill>
              <a:gsLst>
                <a:gs pos="0">
                  <a:srgbClr val="C3D1EE"/>
                </a:gs>
                <a:gs pos="67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3600" dirty="0">
                <a:solidFill>
                  <a:prstClr val="black"/>
                </a:solidFill>
                <a:latin typeface="得意黑" pitchFamily="50" charset="-122"/>
                <a:ea typeface="得意黑" pitchFamily="50" charset="-122"/>
              </a:rPr>
              <a:t>     </a:t>
            </a:r>
            <a:r>
              <a:rPr kumimoji="0" lang="en-US" altLang="zh-CN" sz="3600" b="0" i="0" u="none" strike="noStrike" kern="1200" cap="none" spc="0" normalizeH="0" baseline="0" noProof="0" dirty="0">
                <a:ln>
                  <a:noFill/>
                </a:ln>
                <a:solidFill>
                  <a:prstClr val="black"/>
                </a:solidFill>
                <a:effectLst/>
                <a:uLnTx/>
                <a:uFillTx/>
                <a:latin typeface="得意黑" pitchFamily="50" charset="-122"/>
                <a:ea typeface="得意黑" pitchFamily="50" charset="-122"/>
                <a:cs typeface="+mn-cs"/>
              </a:rPr>
              <a:t>Intimate</a:t>
            </a:r>
            <a:endParaRPr kumimoji="0" lang="zh-CN" altLang="en-US" sz="3600" b="0" i="0" u="none" strike="noStrike" kern="1200" cap="none" spc="0" normalizeH="0" baseline="0" noProof="0" dirty="0">
              <a:ln>
                <a:noFill/>
              </a:ln>
              <a:solidFill>
                <a:prstClr val="black"/>
              </a:solidFill>
              <a:effectLst/>
              <a:uLnTx/>
              <a:uFillTx/>
              <a:latin typeface="得意黑" pitchFamily="50" charset="-122"/>
              <a:ea typeface="得意黑" pitchFamily="50"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Internet relationships are as intimate as face-to-face ones, and are sometimes even closer.</a:t>
            </a:r>
            <a:endPar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0" i="0" u="none" strike="noStrike" kern="1200" cap="none" spc="0" normalizeH="0" baseline="0" noProof="0" dirty="0">
                <a:ln>
                  <a:noFill/>
                </a:ln>
                <a:solidFill>
                  <a:prstClr val="black"/>
                </a:solidFill>
                <a:effectLst/>
                <a:uLnTx/>
                <a:uFillTx/>
                <a:latin typeface="得意黑" pitchFamily="50" charset="-122"/>
                <a:ea typeface="得意黑" pitchFamily="50" charset="-122"/>
                <a:cs typeface="+mn-cs"/>
              </a:rPr>
              <a:t>Convert</a:t>
            </a:r>
            <a:endParaRPr kumimoji="0" lang="en-US" altLang="zh-CN" sz="3600" b="0" i="0" u="none" strike="noStrike" kern="1200" cap="none" spc="0" normalizeH="0" baseline="0" noProof="0" dirty="0">
              <a:ln>
                <a:noFill/>
              </a:ln>
              <a:solidFill>
                <a:prstClr val="black"/>
              </a:solidFill>
              <a:effectLst/>
              <a:uLnTx/>
              <a:uFillTx/>
              <a:latin typeface="得意黑" pitchFamily="50" charset="-122"/>
              <a:ea typeface="得意黑" pitchFamily="50"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Many online relationships convert to face-to-face ones.</a:t>
            </a:r>
            <a:endPar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0" i="0" u="none" strike="noStrike" kern="1200" cap="none" spc="0" normalizeH="0" baseline="0" noProof="0" dirty="0">
                <a:ln>
                  <a:noFill/>
                </a:ln>
                <a:solidFill>
                  <a:prstClr val="black"/>
                </a:solidFill>
                <a:effectLst/>
                <a:uLnTx/>
                <a:uFillTx/>
                <a:latin typeface="得意黑" pitchFamily="50" charset="-122"/>
                <a:ea typeface="得意黑" pitchFamily="50" charset="-122"/>
                <a:cs typeface="+mn-cs"/>
              </a:rPr>
              <a:t>Romantic Relationships</a:t>
            </a:r>
            <a:endParaRPr kumimoji="0" lang="zh-CN" altLang="en-US" sz="3600" b="0" i="0" u="none" strike="noStrike" kern="1200" cap="none" spc="0" normalizeH="0" baseline="0" noProof="0" dirty="0">
              <a:ln>
                <a:noFill/>
              </a:ln>
              <a:solidFill>
                <a:prstClr val="black"/>
              </a:solidFill>
              <a:effectLst/>
              <a:uLnTx/>
              <a:uFillTx/>
              <a:latin typeface="得意黑" pitchFamily="50" charset="-122"/>
              <a:ea typeface="得意黑" pitchFamily="50"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Online romantic relationships seem to be more stable than traditional ones. And marriages because of online romantic relationships are not rare.</a:t>
            </a: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7" name="标题 1"/>
          <p:cNvSpPr>
            <a:spLocks noGrp="1"/>
          </p:cNvSpPr>
          <p:nvPr/>
        </p:nvSpPr>
        <p:spPr>
          <a:xfrm>
            <a:off x="392430" y="0"/>
            <a:ext cx="11387455" cy="19297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gn="l">
              <a:buNone/>
            </a:pPr>
            <a:r>
              <a:rPr lang="en-US" altLang="zh-CN" sz="4800" dirty="0">
                <a:latin typeface="得意黑" pitchFamily="50" charset="-122"/>
                <a:ea typeface="得意黑" pitchFamily="50" charset="-122"/>
                <a:sym typeface="+mn-ea"/>
              </a:rPr>
              <a:t>Three features – Paragraph4: intimate.</a:t>
            </a:r>
            <a:endParaRPr lang="zh-CN" altLang="en-US" sz="4800" dirty="0">
              <a:latin typeface="得意黑" pitchFamily="50" charset="-122"/>
              <a:ea typeface="得意黑" pitchFamily="50" charset="-122"/>
            </a:endParaRPr>
          </a:p>
          <a:p>
            <a:pPr marL="0" indent="0" algn="l">
              <a:buNone/>
            </a:pPr>
            <a:r>
              <a:rPr lang="zh-CN" altLang="en-US" dirty="0">
                <a:latin typeface="得意黑" pitchFamily="50" charset="-122"/>
                <a:ea typeface="得意黑" pitchFamily="50" charset="-122"/>
                <a:sym typeface="+mn-ea"/>
              </a:rPr>
              <a:t> </a:t>
            </a:r>
            <a:endParaRPr lang="zh-CN" altLang="en-US" dirty="0">
              <a:latin typeface="得意黑" pitchFamily="50" charset="-122"/>
              <a:ea typeface="得意黑" pitchFamily="50" charset="-122"/>
              <a:sym typeface="+mn-ea"/>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50066" y="1828800"/>
            <a:ext cx="4466849" cy="30043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06885" y="2235201"/>
            <a:ext cx="6569710" cy="3008176"/>
          </a:xfrm>
          <a:prstGeom prst="roundRect">
            <a:avLst>
              <a:gd name="adj" fmla="val 5237"/>
            </a:avLst>
          </a:prstGeom>
          <a:solidFill>
            <a:schemeClr val="bg1"/>
          </a:solidFill>
          <a:ln w="12700" cmpd="sng">
            <a:gradFill>
              <a:gsLst>
                <a:gs pos="0">
                  <a:srgbClr val="C3D1EE"/>
                </a:gs>
                <a:gs pos="67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rPr>
              <a:t>Internet has also assumed tremendous importance in maintaining established relationships.</a:t>
            </a:r>
            <a:endPar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2400" dirty="0">
                <a:solidFill>
                  <a:prstClr val="black"/>
                </a:solidFill>
                <a:latin typeface="Calibri" panose="020F0502020204030204"/>
                <a:ea typeface="微软雅黑" panose="020B0503020204020204" pitchFamily="34" charset="-122"/>
              </a:rPr>
              <a:t>For example, a poll shows that most people reported the Internet made it easier to communicate with friends and family who live far away.</a:t>
            </a:r>
            <a:endParaRPr kumimoji="0" lang="en-US" altLang="zh-CN" sz="24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7" name="标题 1"/>
          <p:cNvSpPr>
            <a:spLocks noGrp="1"/>
          </p:cNvSpPr>
          <p:nvPr/>
        </p:nvSpPr>
        <p:spPr>
          <a:xfrm>
            <a:off x="555717" y="254000"/>
            <a:ext cx="11387455" cy="19297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gn="l">
              <a:buNone/>
            </a:pPr>
            <a:r>
              <a:rPr lang="en-US" altLang="zh-CN" sz="4800" dirty="0">
                <a:latin typeface="得意黑" pitchFamily="50" charset="-122"/>
                <a:ea typeface="得意黑" pitchFamily="50" charset="-122"/>
                <a:sym typeface="+mn-ea"/>
              </a:rPr>
              <a:t>Three features – Paragraph5: maintain.</a:t>
            </a:r>
            <a:endParaRPr lang="zh-CN" altLang="en-US" sz="4800" dirty="0">
              <a:latin typeface="得意黑" pitchFamily="50" charset="-122"/>
              <a:ea typeface="得意黑" pitchFamily="50" charset="-122"/>
            </a:endParaRPr>
          </a:p>
          <a:p>
            <a:pPr marL="0" indent="0" algn="l">
              <a:buNone/>
            </a:pPr>
            <a:r>
              <a:rPr lang="zh-CN" altLang="en-US" dirty="0">
                <a:latin typeface="得意黑" pitchFamily="50" charset="-122"/>
                <a:ea typeface="得意黑" pitchFamily="50" charset="-122"/>
                <a:sym typeface="+mn-ea"/>
              </a:rPr>
              <a:t> </a:t>
            </a:r>
            <a:endParaRPr lang="zh-CN" altLang="en-US" dirty="0">
              <a:latin typeface="得意黑" pitchFamily="50" charset="-122"/>
              <a:ea typeface="得意黑" pitchFamily="50" charset="-122"/>
              <a:sym typeface="+mn-ea"/>
            </a:endParaRPr>
          </a:p>
        </p:txBody>
      </p:sp>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t="3634"/>
          <a:stretch>
            <a:fillRect/>
          </a:stretch>
        </p:blipFill>
        <p:spPr>
          <a:xfrm>
            <a:off x="7056540" y="2871826"/>
            <a:ext cx="4828575" cy="17349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313572" y="1199848"/>
            <a:ext cx="7394210" cy="5257891"/>
          </a:xfrm>
          <a:prstGeom prst="roundRect">
            <a:avLst>
              <a:gd name="adj" fmla="val 5237"/>
            </a:avLst>
          </a:prstGeom>
          <a:solidFill>
            <a:schemeClr val="bg1"/>
          </a:solidFill>
          <a:ln w="12700" cmpd="sn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45720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得意黑" pitchFamily="50" charset="-122"/>
                <a:ea typeface="得意黑" pitchFamily="50" charset="-122"/>
                <a:sym typeface="+mn-ea"/>
              </a:rPr>
              <a:t>The differences challenge </a:t>
            </a:r>
            <a:r>
              <a:rPr kumimoji="0" lang="en-US" altLang="zh-CN" sz="2800" b="1" i="0" u="none" strike="noStrike" kern="1200" cap="none" spc="0" normalizeH="0" baseline="0" noProof="0" dirty="0">
                <a:ln>
                  <a:noFill/>
                </a:ln>
                <a:solidFill>
                  <a:prstClr val="black"/>
                </a:solidFill>
                <a:effectLst/>
                <a:uLnTx/>
                <a:uFillTx/>
                <a:latin typeface="得意黑" pitchFamily="50" charset="-122"/>
                <a:ea typeface="得意黑" pitchFamily="50" charset="-122"/>
                <a:sym typeface="+mn-ea"/>
              </a:rPr>
              <a:t>the old </a:t>
            </a:r>
            <a:r>
              <a:rPr kumimoji="0" lang="zh-CN" altLang="en-US" sz="2800" b="1" i="0" u="none" strike="noStrike" kern="1200" cap="none" spc="0" normalizeH="0" baseline="0" noProof="0" dirty="0">
                <a:ln>
                  <a:noFill/>
                </a:ln>
                <a:solidFill>
                  <a:prstClr val="black"/>
                </a:solidFill>
                <a:effectLst/>
                <a:uLnTx/>
                <a:uFillTx/>
                <a:latin typeface="得意黑" pitchFamily="50" charset="-122"/>
                <a:ea typeface="得意黑" pitchFamily="50" charset="-122"/>
                <a:sym typeface="+mn-ea"/>
              </a:rPr>
              <a:t>relationship theories</a:t>
            </a:r>
            <a:r>
              <a:rPr kumimoji="0" lang="en-US" altLang="zh-CN" sz="2800" b="1" i="0" u="none" strike="noStrike" kern="1200" cap="none" spc="0" normalizeH="0" baseline="0" noProof="0" dirty="0">
                <a:ln>
                  <a:noFill/>
                </a:ln>
                <a:solidFill>
                  <a:prstClr val="black"/>
                </a:solidFill>
                <a:effectLst/>
                <a:uLnTx/>
                <a:uFillTx/>
                <a:latin typeface="得意黑" pitchFamily="50" charset="-122"/>
                <a:ea typeface="得意黑" pitchFamily="50" charset="-122"/>
                <a:sym typeface="+mn-ea"/>
              </a:rPr>
              <a:t>.</a:t>
            </a:r>
            <a:endParaRPr kumimoji="0" lang="en-US" altLang="zh-CN" sz="2800" b="1" i="0" u="none" strike="noStrike" kern="1200" cap="none" spc="0" normalizeH="0" baseline="0" noProof="0" dirty="0">
              <a:ln>
                <a:noFill/>
              </a:ln>
              <a:solidFill>
                <a:prstClr val="black"/>
              </a:solidFill>
              <a:effectLst/>
              <a:uLnTx/>
              <a:uFillTx/>
              <a:latin typeface="得意黑" pitchFamily="50" charset="-122"/>
              <a:ea typeface="得意黑" pitchFamily="50" charset="-122"/>
              <a:sym typeface="+mn-ea"/>
            </a:endParaRPr>
          </a:p>
          <a:p>
            <a:pPr marL="0" marR="0" lvl="0" indent="45720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In face-to-face </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communications</a:t>
            </a: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 physical appearance and proximity are crucial in attraction, while online relationships prioritize shared interests and value. Research shows mixed results: while Internet </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communications</a:t>
            </a: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 </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are as real as face-to-face ones</a:t>
            </a: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 face-to-face </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communications</a:t>
            </a: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 often lead to greater satisfaction</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endParaRPr>
          </a:p>
          <a:p>
            <a:pPr marL="0" marR="0" lvl="0" indent="457200" algn="l" defTabSz="914400" rtl="0" eaLnBrk="1" fontAlgn="auto" latinLnBrk="0" hangingPunct="1">
              <a:lnSpc>
                <a:spcPct val="100000"/>
              </a:lnSpc>
              <a:spcBef>
                <a:spcPts val="0"/>
              </a:spcBef>
              <a:spcAft>
                <a:spcPts val="0"/>
              </a:spcAft>
              <a:buClrTx/>
              <a:buSzTx/>
              <a:buFontTx/>
              <a:buNone/>
              <a:defRPr/>
            </a:pPr>
            <a:r>
              <a:rPr lang="en-US" altLang="zh-CN" sz="2800" dirty="0">
                <a:solidFill>
                  <a:prstClr val="black"/>
                </a:solidFill>
                <a:latin typeface="得意黑" pitchFamily="50" charset="-122"/>
                <a:ea typeface="得意黑" pitchFamily="50" charset="-122"/>
                <a:sym typeface="+mn-ea"/>
              </a:rPr>
              <a:t>About self-closure.</a:t>
            </a:r>
            <a:endParaRPr lang="en-US" altLang="zh-CN" sz="2800" dirty="0">
              <a:solidFill>
                <a:prstClr val="black"/>
              </a:solidFill>
              <a:latin typeface="得意黑" pitchFamily="50" charset="-122"/>
              <a:ea typeface="得意黑" pitchFamily="50" charset="-122"/>
              <a:sym typeface="+mn-ea"/>
            </a:endParaRPr>
          </a:p>
          <a:p>
            <a:pPr marL="0" marR="0" lvl="0" indent="457200" algn="l" defTabSz="914400" rtl="0" eaLnBrk="1" fontAlgn="auto" latinLnBrk="0" hangingPunct="1">
              <a:lnSpc>
                <a:spcPct val="100000"/>
              </a:lnSpc>
              <a:spcBef>
                <a:spcPts val="0"/>
              </a:spcBef>
              <a:spcAft>
                <a:spcPts val="0"/>
              </a:spcAft>
              <a:buClrTx/>
              <a:buSzTx/>
              <a:buFontTx/>
              <a:buNone/>
              <a:defRPr/>
            </a:pPr>
            <a:r>
              <a:rPr lang="en-US" altLang="zh-CN" sz="2000" dirty="0">
                <a:solidFill>
                  <a:prstClr val="black"/>
                </a:solidFill>
                <a:latin typeface="Calibri" panose="020F0502020204030204"/>
                <a:ea typeface="微软雅黑" panose="020B0503020204020204" pitchFamily="34" charset="-122"/>
                <a:sym typeface="+mn-ea"/>
              </a:rPr>
              <a:t>On the internet, because of anonymity, people tend to take risks in self-closure. Sometimes this provides a false sense of intimacy. If a face-to-face one ensues, bad feelings may occur. Face-to-face communications do not have that problem.</a:t>
            </a:r>
            <a:endParaRPr lang="en-US" altLang="zh-CN" sz="2000" dirty="0">
              <a:solidFill>
                <a:prstClr val="black"/>
              </a:solidFill>
              <a:latin typeface="Calibri" panose="020F0502020204030204"/>
              <a:ea typeface="微软雅黑" panose="020B0503020204020204" pitchFamily="34" charset="-122"/>
              <a:sym typeface="+mn-ea"/>
            </a:endParaRPr>
          </a:p>
          <a:p>
            <a:pPr marL="0" marR="0" lvl="0" indent="45720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得意黑" pitchFamily="50" charset="-122"/>
                <a:ea typeface="得意黑" pitchFamily="50" charset="-122"/>
                <a:sym typeface="+mn-ea"/>
              </a:rPr>
              <a:t>Para8:</a:t>
            </a:r>
            <a:r>
              <a:rPr lang="en-US" altLang="zh-CN" sz="2800" b="0" i="0" dirty="0">
                <a:solidFill>
                  <a:srgbClr val="49494E"/>
                </a:solidFill>
                <a:effectLst/>
                <a:latin typeface="得意黑" pitchFamily="50" charset="-122"/>
                <a:ea typeface="得意黑" pitchFamily="50" charset="-122"/>
              </a:rPr>
              <a:t> </a:t>
            </a:r>
            <a:endParaRPr lang="en-US" altLang="zh-CN" sz="2800" b="0" i="0" dirty="0">
              <a:solidFill>
                <a:srgbClr val="49494E"/>
              </a:solidFill>
              <a:effectLst/>
              <a:latin typeface="得意黑" pitchFamily="50" charset="-122"/>
              <a:ea typeface="得意黑" pitchFamily="50" charset="-122"/>
            </a:endParaRPr>
          </a:p>
          <a:p>
            <a:pPr marL="0" marR="0" lvl="0" indent="457200" algn="l" defTabSz="914400" rtl="0" eaLnBrk="1" fontAlgn="auto" latinLnBrk="0" hangingPunct="1">
              <a:lnSpc>
                <a:spcPct val="100000"/>
              </a:lnSpc>
              <a:spcBef>
                <a:spcPts val="0"/>
              </a:spcBef>
              <a:spcAft>
                <a:spcPts val="0"/>
              </a:spcAft>
              <a:buClrTx/>
              <a:buSzTx/>
              <a:buFontTx/>
              <a:buNone/>
              <a:defRPr/>
            </a:pPr>
            <a:r>
              <a:rPr lang="en-US" altLang="zh-CN" sz="2000" b="0" i="0" dirty="0">
                <a:solidFill>
                  <a:schemeClr val="tx1"/>
                </a:solidFill>
                <a:effectLst/>
                <a:latin typeface="Helvetica Neue"/>
              </a:rPr>
              <a:t>Additional research in this area will give many beneficial results.</a:t>
            </a:r>
            <a:endParaRPr kumimoji="0" lang="zh-CN" altLang="en-US" sz="2000" b="0" i="0" u="none" strike="noStrike" kern="1200" cap="none" spc="0" normalizeH="0" baseline="0" noProof="0" dirty="0">
              <a:ln>
                <a:noFill/>
              </a:ln>
              <a:solidFill>
                <a:schemeClr val="tx1"/>
              </a:solidFill>
              <a:effectLst/>
              <a:uLnTx/>
              <a:uFillTx/>
              <a:latin typeface="Calibri" panose="020F0502020204030204"/>
              <a:ea typeface="微软雅黑" panose="020B0503020204020204" pitchFamily="34" charset="-122"/>
              <a:cs typeface="+mn-cs"/>
              <a:sym typeface="+mn-ea"/>
            </a:endParaRPr>
          </a:p>
        </p:txBody>
      </p:sp>
      <p:sp>
        <p:nvSpPr>
          <p:cNvPr id="5" name="标题 1"/>
          <p:cNvSpPr>
            <a:spLocks noGrp="1"/>
          </p:cNvSpPr>
          <p:nvPr/>
        </p:nvSpPr>
        <p:spPr>
          <a:xfrm>
            <a:off x="313572" y="0"/>
            <a:ext cx="11929228" cy="140398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buNone/>
            </a:pPr>
            <a:r>
              <a:rPr lang="zh-CN" altLang="en-US" sz="4000" dirty="0">
                <a:latin typeface="得意黑" pitchFamily="50" charset="-122"/>
                <a:ea typeface="得意黑" pitchFamily="50" charset="-122"/>
                <a:sym typeface="+mn-ea"/>
              </a:rPr>
              <a:t>Differences Between Internet and Face-to-face </a:t>
            </a:r>
            <a:r>
              <a:rPr lang="en-US" altLang="zh-CN" sz="4000" dirty="0">
                <a:latin typeface="得意黑" pitchFamily="50" charset="-122"/>
                <a:ea typeface="得意黑" pitchFamily="50" charset="-122"/>
                <a:sym typeface="+mn-ea"/>
              </a:rPr>
              <a:t>C</a:t>
            </a:r>
            <a:r>
              <a:rPr lang="zh-CN" altLang="en-US" sz="4000" dirty="0">
                <a:latin typeface="得意黑" pitchFamily="50" charset="-122"/>
                <a:ea typeface="得意黑" pitchFamily="50" charset="-122"/>
                <a:sym typeface="+mn-ea"/>
              </a:rPr>
              <a:t>ommunication</a:t>
            </a:r>
            <a:r>
              <a:rPr lang="en-US" altLang="zh-CN" sz="4000" dirty="0">
                <a:latin typeface="得意黑" pitchFamily="50" charset="-122"/>
                <a:ea typeface="得意黑" pitchFamily="50" charset="-122"/>
                <a:sym typeface="+mn-ea"/>
              </a:rPr>
              <a:t>s</a:t>
            </a:r>
            <a:endParaRPr lang="zh-CN" altLang="en-US" sz="4000" dirty="0">
              <a:latin typeface="得意黑" pitchFamily="50" charset="-122"/>
              <a:ea typeface="得意黑" pitchFamily="50" charset="-122"/>
              <a:sym typeface="+mn-ea"/>
            </a:endParaRPr>
          </a:p>
        </p:txBody>
      </p:sp>
      <p:pic>
        <p:nvPicPr>
          <p:cNvPr id="3" name="图片 2"/>
          <p:cNvPicPr>
            <a:picLocks noChangeAspect="1"/>
          </p:cNvPicPr>
          <p:nvPr/>
        </p:nvPicPr>
        <p:blipFill>
          <a:blip r:embed="rId1"/>
          <a:stretch>
            <a:fillRect/>
          </a:stretch>
        </p:blipFill>
        <p:spPr>
          <a:xfrm>
            <a:off x="7802822" y="1612764"/>
            <a:ext cx="4243219" cy="36324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707390" y="1492794"/>
            <a:ext cx="10777220" cy="5000081"/>
          </a:xfrm>
          <a:prstGeom prst="roundRect">
            <a:avLst>
              <a:gd name="adj" fmla="val 5237"/>
            </a:avLst>
          </a:prstGeom>
          <a:solidFill>
            <a:schemeClr val="bg1"/>
          </a:solidFill>
          <a:ln w="12700" cmpd="sng">
            <a:gradFill>
              <a:gsLst>
                <a:gs pos="0">
                  <a:srgbClr val="C3D1EE"/>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a:outerShdw blurRad="50800" dist="63500" dir="3600000" algn="l" rotWithShape="0">
              <a:prstClr val="black">
                <a:alpha val="18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7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This article explores the impact of the internet on interpersonal relationships.</a:t>
            </a:r>
            <a:endParaRPr kumimoji="0" lang="en-US" altLang="zh-CN" sz="27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7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The article introduces the topic by comparing the traditional communication methods in the past ,and the opposing views on Internet communication. The article points out that the rapid development of Internet communication is an indispensable communication method. Different from general cognition, it is as close as face-to-face communication. It also points out that Internet communication can well maintain established relationships.</a:t>
            </a:r>
            <a:endParaRPr kumimoji="0" lang="en-US" altLang="zh-CN" sz="27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endParaRPr>
          </a:p>
          <a:p>
            <a:pPr marL="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7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sym typeface="+mn-ea"/>
              </a:rPr>
              <a:t>The difference between the two communications prompts scholars to further research. Future exploration in this field will give more beneficial results.</a:t>
            </a:r>
            <a:endParaRPr kumimoji="0" lang="zh-CN" altLang="en-US" sz="27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
        <p:nvSpPr>
          <p:cNvPr id="2" name="标题 1"/>
          <p:cNvSpPr>
            <a:spLocks noGrp="1"/>
          </p:cNvSpPr>
          <p:nvPr>
            <p:ph type="title"/>
          </p:nvPr>
        </p:nvSpPr>
        <p:spPr/>
        <p:txBody>
          <a:bodyPr/>
          <a:lstStyle/>
          <a:p>
            <a:r>
              <a:rPr lang="en-US" altLang="zh-CN" sz="6600" dirty="0">
                <a:latin typeface="得意黑" pitchFamily="50" charset="-122"/>
                <a:ea typeface="得意黑" pitchFamily="50" charset="-122"/>
              </a:rPr>
              <a:t>Abstract</a:t>
            </a:r>
            <a:endParaRPr lang="en-US" altLang="zh-CN" sz="6600" dirty="0">
              <a:latin typeface="得意黑" pitchFamily="50" charset="-122"/>
              <a:ea typeface="得意黑" pitchFamily="5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57163"/>
            <a:ext cx="10515600" cy="3143673"/>
          </a:xfrm>
        </p:spPr>
        <p:txBody>
          <a:bodyPr>
            <a:noAutofit/>
          </a:bodyPr>
          <a:lstStyle/>
          <a:p>
            <a:pPr algn="ctr"/>
            <a:r>
              <a:rPr lang="en-US" altLang="zh-CN" sz="9600" dirty="0">
                <a:latin typeface="得意黑" pitchFamily="50" charset="-122"/>
                <a:ea typeface="得意黑" pitchFamily="50" charset="-122"/>
              </a:rPr>
              <a:t>Part 03 -</a:t>
            </a:r>
            <a:br>
              <a:rPr lang="en-US" altLang="zh-CN" sz="9600" dirty="0">
                <a:latin typeface="得意黑" pitchFamily="50" charset="-122"/>
                <a:ea typeface="得意黑" pitchFamily="50" charset="-122"/>
              </a:rPr>
            </a:br>
            <a:r>
              <a:rPr lang="en-US" altLang="zh-CN" sz="9600" dirty="0">
                <a:latin typeface="得意黑" pitchFamily="50" charset="-122"/>
                <a:ea typeface="得意黑" pitchFamily="50" charset="-122"/>
              </a:rPr>
              <a:t>Related Topics</a:t>
            </a:r>
            <a:endParaRPr lang="en-US" altLang="zh-CN" sz="9600" dirty="0">
              <a:latin typeface="得意黑" pitchFamily="50" charset="-122"/>
              <a:ea typeface="得意黑" pitchFamily="5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7537" y="359773"/>
            <a:ext cx="11380470" cy="1344295"/>
          </a:xfrm>
        </p:spPr>
        <p:txBody>
          <a:bodyPr>
            <a:noAutofit/>
          </a:bodyPr>
          <a:lstStyle/>
          <a:p>
            <a:pPr marL="0" indent="0" algn="ctr">
              <a:buNone/>
            </a:pPr>
            <a:r>
              <a:rPr lang="en-US" sz="3600" dirty="0">
                <a:latin typeface="得意黑" pitchFamily="50" charset="-122"/>
                <a:ea typeface="得意黑" pitchFamily="50" charset="-122"/>
              </a:rPr>
              <a:t> In China, compared to traditional romantic </a:t>
            </a:r>
            <a:r>
              <a:rPr lang="en-US" altLang="zh-CN" sz="3600" dirty="0">
                <a:latin typeface="得意黑" pitchFamily="50" charset="-122"/>
                <a:ea typeface="得意黑" pitchFamily="50" charset="-122"/>
              </a:rPr>
              <a:t>relationship,</a:t>
            </a:r>
            <a:endParaRPr lang="en-US" sz="3600" dirty="0">
              <a:latin typeface="得意黑" pitchFamily="50" charset="-122"/>
              <a:ea typeface="得意黑" pitchFamily="50" charset="-122"/>
            </a:endParaRPr>
          </a:p>
          <a:p>
            <a:pPr marL="0" indent="0" algn="ctr">
              <a:buNone/>
            </a:pPr>
            <a:r>
              <a:rPr lang="en-US" sz="3600" dirty="0">
                <a:latin typeface="得意黑" pitchFamily="50" charset="-122"/>
                <a:ea typeface="得意黑" pitchFamily="50" charset="-122"/>
              </a:rPr>
              <a:t>is online romantic relationship reliable?</a:t>
            </a:r>
            <a:endParaRPr lang="en-US" sz="3600" dirty="0">
              <a:latin typeface="得意黑" pitchFamily="50" charset="-122"/>
              <a:ea typeface="得意黑" pitchFamily="50" charset="-122"/>
            </a:endParaRPr>
          </a:p>
          <a:p>
            <a:pPr marL="0" indent="0" algn="ctr">
              <a:buNone/>
            </a:pPr>
            <a:endParaRPr lang="en-US" altLang="zh-CN" sz="2000" dirty="0"/>
          </a:p>
        </p:txBody>
      </p:sp>
      <p:sp>
        <p:nvSpPr>
          <p:cNvPr id="2" name="圆角矩形 1"/>
          <p:cNvSpPr/>
          <p:nvPr/>
        </p:nvSpPr>
        <p:spPr>
          <a:xfrm>
            <a:off x="1262743" y="216581"/>
            <a:ext cx="9833428" cy="1464945"/>
          </a:xfrm>
          <a:prstGeom prst="roundRect">
            <a:avLst/>
          </a:prstGeom>
          <a:noFill/>
          <a:ln w="31750">
            <a:solidFill>
              <a:schemeClr val="tx1"/>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r="33785" b="63160"/>
          <a:stretch>
            <a:fillRect/>
          </a:stretch>
        </p:blipFill>
        <p:spPr bwMode="auto">
          <a:xfrm>
            <a:off x="427537" y="2438400"/>
            <a:ext cx="5221730" cy="2612572"/>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nvPicPr>
        <p:blipFill>
          <a:blip r:embed="rId2"/>
          <a:stretch>
            <a:fillRect/>
          </a:stretch>
        </p:blipFill>
        <p:spPr>
          <a:xfrm>
            <a:off x="6179457" y="1704068"/>
            <a:ext cx="4430486" cy="4481217"/>
          </a:xfrm>
          <a:prstGeom prst="rect">
            <a:avLst/>
          </a:prstGeom>
        </p:spPr>
      </p:pic>
      <p:sp>
        <p:nvSpPr>
          <p:cNvPr id="10" name="文本框 9"/>
          <p:cNvSpPr txBox="1"/>
          <p:nvPr/>
        </p:nvSpPr>
        <p:spPr>
          <a:xfrm>
            <a:off x="669471" y="6114125"/>
            <a:ext cx="4824185" cy="523220"/>
          </a:xfrm>
          <a:prstGeom prst="rect">
            <a:avLst/>
          </a:prstGeom>
          <a:noFill/>
        </p:spPr>
        <p:txBody>
          <a:bodyPr wrap="square" rtlCol="0">
            <a:spAutoFit/>
          </a:bodyPr>
          <a:lstStyle/>
          <a:p>
            <a:r>
              <a:rPr lang="en-US" altLang="zh-CN" sz="2800" dirty="0">
                <a:latin typeface="得意黑" pitchFamily="50" charset="-122"/>
                <a:ea typeface="得意黑" pitchFamily="50" charset="-122"/>
              </a:rPr>
              <a:t>Special cases &amp; Common ideas……</a:t>
            </a:r>
            <a:endParaRPr lang="zh-CN" altLang="en-US" sz="2800" dirty="0">
              <a:latin typeface="得意黑" pitchFamily="50" charset="-122"/>
              <a:ea typeface="得意黑" pitchFamily="50" charset="-122"/>
            </a:endParaRPr>
          </a:p>
        </p:txBody>
      </p:sp>
      <p:sp>
        <p:nvSpPr>
          <p:cNvPr id="11" name="文本框 10"/>
          <p:cNvSpPr txBox="1"/>
          <p:nvPr/>
        </p:nvSpPr>
        <p:spPr>
          <a:xfrm>
            <a:off x="6698346" y="6110479"/>
            <a:ext cx="4824185" cy="523220"/>
          </a:xfrm>
          <a:prstGeom prst="rect">
            <a:avLst/>
          </a:prstGeom>
          <a:noFill/>
        </p:spPr>
        <p:txBody>
          <a:bodyPr wrap="square" rtlCol="0">
            <a:spAutoFit/>
          </a:bodyPr>
          <a:lstStyle/>
          <a:p>
            <a:r>
              <a:rPr lang="en-US" altLang="zh-CN" sz="2800" dirty="0">
                <a:latin typeface="得意黑" pitchFamily="50" charset="-122"/>
                <a:ea typeface="得意黑" pitchFamily="50" charset="-122"/>
              </a:rPr>
              <a:t>Academic perspectives……</a:t>
            </a:r>
            <a:endParaRPr lang="zh-CN" altLang="en-US" sz="2800" dirty="0">
              <a:latin typeface="得意黑" pitchFamily="50" charset="-122"/>
              <a:ea typeface="得意黑" pitchFamily="5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7537" y="359773"/>
            <a:ext cx="11380470" cy="1344295"/>
          </a:xfrm>
        </p:spPr>
        <p:txBody>
          <a:bodyPr>
            <a:noAutofit/>
          </a:bodyPr>
          <a:lstStyle/>
          <a:p>
            <a:pPr marL="0" indent="0" algn="ctr">
              <a:buNone/>
            </a:pPr>
            <a:r>
              <a:rPr lang="en-US" sz="3600" dirty="0">
                <a:latin typeface="得意黑" pitchFamily="50" charset="-122"/>
                <a:ea typeface="得意黑" pitchFamily="50" charset="-122"/>
              </a:rPr>
              <a:t> In China, compared to traditional romantic </a:t>
            </a:r>
            <a:r>
              <a:rPr lang="en-US" altLang="zh-CN" sz="3600" dirty="0">
                <a:latin typeface="得意黑" pitchFamily="50" charset="-122"/>
                <a:ea typeface="得意黑" pitchFamily="50" charset="-122"/>
              </a:rPr>
              <a:t>relationship,</a:t>
            </a:r>
            <a:endParaRPr lang="en-US" sz="3600" dirty="0">
              <a:latin typeface="得意黑" pitchFamily="50" charset="-122"/>
              <a:ea typeface="得意黑" pitchFamily="50" charset="-122"/>
            </a:endParaRPr>
          </a:p>
          <a:p>
            <a:pPr marL="0" indent="0" algn="ctr">
              <a:buNone/>
            </a:pPr>
            <a:r>
              <a:rPr lang="en-US" sz="3600" dirty="0">
                <a:latin typeface="得意黑" pitchFamily="50" charset="-122"/>
                <a:ea typeface="得意黑" pitchFamily="50" charset="-122"/>
              </a:rPr>
              <a:t>is online romantic relationship reliable?</a:t>
            </a:r>
            <a:endParaRPr lang="en-US" sz="3600" dirty="0">
              <a:latin typeface="得意黑" pitchFamily="50" charset="-122"/>
              <a:ea typeface="得意黑" pitchFamily="50" charset="-122"/>
            </a:endParaRPr>
          </a:p>
          <a:p>
            <a:pPr marL="0" indent="0" algn="ctr">
              <a:buNone/>
            </a:pPr>
            <a:endParaRPr lang="en-US" altLang="zh-CN" sz="2000" dirty="0"/>
          </a:p>
        </p:txBody>
      </p:sp>
      <p:sp>
        <p:nvSpPr>
          <p:cNvPr id="2" name="圆角矩形 1"/>
          <p:cNvSpPr/>
          <p:nvPr/>
        </p:nvSpPr>
        <p:spPr>
          <a:xfrm>
            <a:off x="1262743" y="216581"/>
            <a:ext cx="9833428" cy="1464945"/>
          </a:xfrm>
          <a:prstGeom prst="roundRect">
            <a:avLst/>
          </a:prstGeom>
          <a:noFill/>
          <a:ln w="31750">
            <a:solidFill>
              <a:schemeClr val="tx1"/>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1"/>
          <a:stretch>
            <a:fillRect/>
          </a:stretch>
        </p:blipFill>
        <p:spPr>
          <a:xfrm>
            <a:off x="6179457" y="1704068"/>
            <a:ext cx="4430486" cy="4481217"/>
          </a:xfrm>
          <a:prstGeom prst="rect">
            <a:avLst/>
          </a:prstGeom>
        </p:spPr>
      </p:pic>
      <p:sp>
        <p:nvSpPr>
          <p:cNvPr id="11" name="文本框 10"/>
          <p:cNvSpPr txBox="1"/>
          <p:nvPr/>
        </p:nvSpPr>
        <p:spPr>
          <a:xfrm>
            <a:off x="6698346" y="6110479"/>
            <a:ext cx="4824185" cy="523220"/>
          </a:xfrm>
          <a:prstGeom prst="rect">
            <a:avLst/>
          </a:prstGeom>
          <a:noFill/>
        </p:spPr>
        <p:txBody>
          <a:bodyPr wrap="square" rtlCol="0">
            <a:spAutoFit/>
          </a:bodyPr>
          <a:lstStyle/>
          <a:p>
            <a:r>
              <a:rPr lang="en-US" altLang="zh-CN" sz="2800" dirty="0">
                <a:latin typeface="得意黑" pitchFamily="50" charset="-122"/>
                <a:ea typeface="得意黑" pitchFamily="50" charset="-122"/>
              </a:rPr>
              <a:t>Academic perspectives……</a:t>
            </a:r>
            <a:endParaRPr lang="zh-CN" altLang="en-US" sz="2800" dirty="0">
              <a:latin typeface="得意黑" pitchFamily="50" charset="-122"/>
              <a:ea typeface="得意黑" pitchFamily="50" charset="-122"/>
            </a:endParaRPr>
          </a:p>
        </p:txBody>
      </p:sp>
      <p:pic>
        <p:nvPicPr>
          <p:cNvPr id="5" name="图片 4"/>
          <p:cNvPicPr>
            <a:picLocks noChangeAspect="1"/>
          </p:cNvPicPr>
          <p:nvPr/>
        </p:nvPicPr>
        <p:blipFill>
          <a:blip r:embed="rId2"/>
          <a:stretch>
            <a:fillRect/>
          </a:stretch>
        </p:blipFill>
        <p:spPr>
          <a:xfrm>
            <a:off x="258082" y="1939925"/>
            <a:ext cx="7524750" cy="438150"/>
          </a:xfrm>
          <a:prstGeom prst="rect">
            <a:avLst/>
          </a:prstGeom>
        </p:spPr>
      </p:pic>
      <p:pic>
        <p:nvPicPr>
          <p:cNvPr id="7" name="图片 6"/>
          <p:cNvPicPr>
            <a:picLocks noChangeAspect="1"/>
          </p:cNvPicPr>
          <p:nvPr/>
        </p:nvPicPr>
        <p:blipFill>
          <a:blip r:embed="rId3"/>
          <a:stretch>
            <a:fillRect/>
          </a:stretch>
        </p:blipFill>
        <p:spPr>
          <a:xfrm>
            <a:off x="297361" y="2280557"/>
            <a:ext cx="7096125" cy="666750"/>
          </a:xfrm>
          <a:prstGeom prst="rect">
            <a:avLst/>
          </a:prstGeom>
        </p:spPr>
      </p:pic>
      <p:sp>
        <p:nvSpPr>
          <p:cNvPr id="13" name="文本框 12"/>
          <p:cNvSpPr txBox="1"/>
          <p:nvPr/>
        </p:nvSpPr>
        <p:spPr>
          <a:xfrm>
            <a:off x="584201" y="3171371"/>
            <a:ext cx="5511799" cy="2862322"/>
          </a:xfrm>
          <a:prstGeom prst="rect">
            <a:avLst/>
          </a:prstGeom>
          <a:noFill/>
        </p:spPr>
        <p:txBody>
          <a:bodyPr wrap="square" rtlCol="0">
            <a:spAutoFit/>
          </a:bodyPr>
          <a:lstStyle/>
          <a:p>
            <a:r>
              <a:rPr lang="en-US" altLang="zh-CN" dirty="0"/>
              <a:t>        </a:t>
            </a:r>
            <a:r>
              <a:rPr lang="en-US" altLang="zh-CN" sz="2000" dirty="0"/>
              <a:t>In terms of sense of responsibility and attachment, traditional lovers are significantly higher than those who have experienced "online dating". In terms of intimacy, trust, and emotional support, traditional lovers are significantly higher than those who have experienced both types of dating; In terms of support, traditional lovers are significantly higher than those who engage in pure online dating.</a:t>
            </a:r>
            <a:endParaRPr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7537" y="359773"/>
            <a:ext cx="11380470" cy="1344295"/>
          </a:xfrm>
        </p:spPr>
        <p:txBody>
          <a:bodyPr>
            <a:noAutofit/>
          </a:bodyPr>
          <a:lstStyle/>
          <a:p>
            <a:pPr marL="0" indent="0" algn="ctr">
              <a:buNone/>
            </a:pPr>
            <a:r>
              <a:rPr lang="en-US" sz="3600" dirty="0">
                <a:latin typeface="得意黑" pitchFamily="50" charset="-122"/>
                <a:ea typeface="得意黑" pitchFamily="50" charset="-122"/>
              </a:rPr>
              <a:t> In China, compared to traditional romantic </a:t>
            </a:r>
            <a:r>
              <a:rPr lang="en-US" altLang="zh-CN" sz="3600" dirty="0">
                <a:latin typeface="得意黑" pitchFamily="50" charset="-122"/>
                <a:ea typeface="得意黑" pitchFamily="50" charset="-122"/>
              </a:rPr>
              <a:t>relationship,</a:t>
            </a:r>
            <a:endParaRPr lang="en-US" sz="3600" dirty="0">
              <a:latin typeface="得意黑" pitchFamily="50" charset="-122"/>
              <a:ea typeface="得意黑" pitchFamily="50" charset="-122"/>
            </a:endParaRPr>
          </a:p>
          <a:p>
            <a:pPr marL="0" indent="0" algn="ctr">
              <a:buNone/>
            </a:pPr>
            <a:r>
              <a:rPr lang="en-US" sz="3600" dirty="0">
                <a:latin typeface="得意黑" pitchFamily="50" charset="-122"/>
                <a:ea typeface="得意黑" pitchFamily="50" charset="-122"/>
              </a:rPr>
              <a:t>is online romantic relationship reliable?</a:t>
            </a:r>
            <a:endParaRPr lang="en-US" sz="3600" dirty="0">
              <a:latin typeface="得意黑" pitchFamily="50" charset="-122"/>
              <a:ea typeface="得意黑" pitchFamily="50" charset="-122"/>
            </a:endParaRPr>
          </a:p>
          <a:p>
            <a:pPr marL="0" indent="0" algn="ctr">
              <a:buNone/>
            </a:pPr>
            <a:endParaRPr lang="en-US" altLang="zh-CN" sz="2000" dirty="0"/>
          </a:p>
        </p:txBody>
      </p:sp>
      <p:sp>
        <p:nvSpPr>
          <p:cNvPr id="2" name="圆角矩形 1"/>
          <p:cNvSpPr/>
          <p:nvPr/>
        </p:nvSpPr>
        <p:spPr>
          <a:xfrm>
            <a:off x="1262743" y="216581"/>
            <a:ext cx="9833428" cy="1464945"/>
          </a:xfrm>
          <a:prstGeom prst="roundRect">
            <a:avLst/>
          </a:prstGeom>
          <a:noFill/>
          <a:ln w="31750">
            <a:solidFill>
              <a:schemeClr val="tx1"/>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1712686" y="2467394"/>
            <a:ext cx="8781143" cy="3108543"/>
          </a:xfrm>
          <a:prstGeom prst="rect">
            <a:avLst/>
          </a:prstGeom>
          <a:noFill/>
        </p:spPr>
        <p:txBody>
          <a:bodyPr wrap="square" rtlCol="0">
            <a:spAutoFit/>
          </a:bodyPr>
          <a:lstStyle/>
          <a:p>
            <a:r>
              <a:rPr lang="en-US" altLang="zh-CN" sz="2800" dirty="0">
                <a:latin typeface="得意黑" pitchFamily="50" charset="-122"/>
                <a:ea typeface="得意黑" pitchFamily="50" charset="-122"/>
              </a:rPr>
              <a:t>	The answer seems to be No.</a:t>
            </a:r>
            <a:endParaRPr lang="en-US" altLang="zh-CN" sz="2800" dirty="0">
              <a:latin typeface="得意黑" pitchFamily="50" charset="-122"/>
              <a:ea typeface="得意黑" pitchFamily="50" charset="-122"/>
            </a:endParaRPr>
          </a:p>
          <a:p>
            <a:endParaRPr lang="en-US" altLang="zh-CN" sz="2800" dirty="0">
              <a:latin typeface="得意黑" pitchFamily="50" charset="-122"/>
              <a:ea typeface="得意黑" pitchFamily="50" charset="-122"/>
            </a:endParaRPr>
          </a:p>
          <a:p>
            <a:r>
              <a:rPr lang="en-US" altLang="zh-CN" sz="2800" dirty="0">
                <a:latin typeface="+mn-ea"/>
              </a:rPr>
              <a:t>	This contradicts the viewpoint in the text. But as mentioned in the article, there are indeed many opposing views in this field, which indicates that research on Internet social relationships is still a promising field.</a:t>
            </a:r>
            <a:endParaRPr lang="zh-CN" altLang="en-US" sz="2800" dirty="0">
              <a:latin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060"/>
            <a:ext cx="10515600" cy="1325563"/>
          </a:xfrm>
        </p:spPr>
        <p:txBody>
          <a:bodyPr>
            <a:noAutofit/>
          </a:bodyPr>
          <a:lstStyle/>
          <a:p>
            <a:pPr algn="ctr"/>
            <a:r>
              <a:rPr lang="en-US" altLang="zh-CN" sz="9600">
                <a:latin typeface="得意黑" pitchFamily="50" charset="-122"/>
                <a:ea typeface="得意黑" pitchFamily="50" charset="-122"/>
              </a:rPr>
              <a:t>Thank you</a:t>
            </a:r>
            <a:endParaRPr lang="en-US" altLang="zh-CN" sz="9600">
              <a:latin typeface="得意黑" pitchFamily="50" charset="-122"/>
              <a:ea typeface="得意黑" pitchFamily="50" charset="-122"/>
            </a:endParaRPr>
          </a:p>
        </p:txBody>
      </p:sp>
    </p:spTree>
  </p:cSld>
  <p:clrMapOvr>
    <a:masterClrMapping/>
  </p:clrMapOvr>
</p:sld>
</file>

<file path=ppt/tags/tag1.xml><?xml version="1.0" encoding="utf-8"?>
<p:tagLst xmlns:p="http://schemas.openxmlformats.org/presentationml/2006/main">
  <p:tag name="RESOURCE_RECORD_KEY" val="{&quot;13&quot;:[20209634,4705195,20469032,4364974],&quot;19&quot;:[20345020]}"/>
  <p:tag name="COMMONDATA" val="eyJoZGlkIjoiYjkyZmNhZmMwYTRkMzdjNDc0ZDBiODA4ZTNmNjg2YzY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6">
    <a:dk1>
      <a:srgbClr val="000000"/>
    </a:dk1>
    <a:lt1>
      <a:srgbClr val="FFFFFF"/>
    </a:lt1>
    <a:dk2>
      <a:srgbClr val="44546A"/>
    </a:dk2>
    <a:lt2>
      <a:srgbClr val="E7E6E6"/>
    </a:lt2>
    <a:accent1>
      <a:srgbClr val="6780FB"/>
    </a:accent1>
    <a:accent2>
      <a:srgbClr val="AC68FB"/>
    </a:accent2>
    <a:accent3>
      <a:srgbClr val="F75090"/>
    </a:accent3>
    <a:accent4>
      <a:srgbClr val="FF5958"/>
    </a:accent4>
    <a:accent5>
      <a:srgbClr val="FF920C"/>
    </a:accent5>
    <a:accent6>
      <a:srgbClr val="ABD500"/>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自定义 7">
    <a:dk1>
      <a:srgbClr val="000000"/>
    </a:dk1>
    <a:lt1>
      <a:srgbClr val="FFFFFF"/>
    </a:lt1>
    <a:dk2>
      <a:srgbClr val="44546A"/>
    </a:dk2>
    <a:lt2>
      <a:srgbClr val="E7E6E6"/>
    </a:lt2>
    <a:accent1>
      <a:srgbClr val="A89DEF"/>
    </a:accent1>
    <a:accent2>
      <a:srgbClr val="C9A9EB"/>
    </a:accent2>
    <a:accent3>
      <a:srgbClr val="758CDC"/>
    </a:accent3>
    <a:accent4>
      <a:srgbClr val="8EAAF0"/>
    </a:accent4>
    <a:accent5>
      <a:srgbClr val="77D1E8"/>
    </a:accent5>
    <a:accent6>
      <a:srgbClr val="3CB8EC"/>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5907</Words>
  <Application>WPS 演示</Application>
  <PresentationFormat>宽屏</PresentationFormat>
  <Paragraphs>174</Paragraphs>
  <Slides>23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Arial</vt:lpstr>
      <vt:lpstr>宋体</vt:lpstr>
      <vt:lpstr>Wingdings</vt:lpstr>
      <vt:lpstr>得意黑</vt:lpstr>
      <vt:lpstr>Times New Roman</vt:lpstr>
      <vt:lpstr>Calibri</vt:lpstr>
      <vt:lpstr>微软雅黑</vt:lpstr>
      <vt:lpstr>Arial Unicode MS</vt:lpstr>
      <vt:lpstr>Helvetica Neue</vt:lpstr>
      <vt:lpstr>WPS</vt:lpstr>
      <vt:lpstr>The Internet And Relationships</vt:lpstr>
      <vt:lpstr>Part 01 - Vocabulary</vt:lpstr>
      <vt:lpstr>Part 01 - Vocabulary</vt:lpstr>
      <vt:lpstr>PowerPoint 演示文稿</vt:lpstr>
      <vt:lpstr>PowerPoint 演示文稿</vt:lpstr>
      <vt:lpstr>PowerPoint 演示文稿</vt:lpstr>
      <vt:lpstr>PowerPoint 演示文稿</vt:lpstr>
      <vt:lpstr>PowerPoint 演示文稿</vt:lpstr>
      <vt:lpstr>Part 02 - Article Comprehension</vt:lpstr>
      <vt:lpstr>Structure</vt:lpstr>
      <vt:lpstr>Structure</vt:lpstr>
      <vt:lpstr>Introduction-Paragraph1</vt:lpstr>
      <vt:lpstr>Introduction-Paragraph2</vt:lpstr>
      <vt:lpstr>PowerPoint 演示文稿</vt:lpstr>
      <vt:lpstr>PowerPoint 演示文稿</vt:lpstr>
      <vt:lpstr>PowerPoint 演示文稿</vt:lpstr>
      <vt:lpstr>PowerPoint 演示文稿</vt:lpstr>
      <vt:lpstr>Abstract</vt:lpstr>
      <vt:lpstr>Part 03 - Related Topics</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Internet And Relationships</dc:title>
  <dc:creator>Leo</dc:creator>
  <cp:lastModifiedBy>叶禹赋</cp:lastModifiedBy>
  <cp:revision>32</cp:revision>
  <dcterms:created xsi:type="dcterms:W3CDTF">2023-08-09T12:44:00Z</dcterms:created>
  <dcterms:modified xsi:type="dcterms:W3CDTF">2025-11-19T07:02:52Z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2052-12.1.0.23542</vt:lpwstr>
  </property>
</Properties>
</file>